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665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5331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2996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0662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5993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659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1324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4321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987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318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2649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315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7980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7665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35331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02996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70662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8328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05993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73659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41324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8990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76656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595360" y="-3108960"/>
            <a:ext cx="7132320" cy="7132320"/>
          </a:xfrm>
          <a:prstGeom prst="ellipse">
            <a:avLst/>
          </a:prstGeom>
          <a:solidFill>
            <a:srgbClr val="FF6F8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3291840" y="2194560"/>
            <a:ext cx="6766560" cy="6766560"/>
          </a:xfrm>
          <a:prstGeom prst="ellipse">
            <a:avLst/>
          </a:prstGeom>
          <a:solidFill>
            <a:srgbClr val="43E2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0" y="4206240"/>
            <a:ext cx="6035040" cy="6035040"/>
          </a:xfrm>
          <a:prstGeom prst="ellipse">
            <a:avLst/>
          </a:prstGeom>
          <a:solidFill>
            <a:srgbClr val="FFC56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502920"/>
            <a:ext cx="502920" cy="502920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502920"/>
            <a:ext cx="502920" cy="502920"/>
          </a:xfrm>
          <a:prstGeom prst="ellipse">
            <a:avLst/>
          </a:prstGeom>
          <a:solidFill>
            <a:srgbClr val="FF6F8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02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1">
                <a:solidFill>
                  <a:srgbClr val="161008"/>
                </a:solidFill>
                <a:latin typeface="Georgi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5024" y="4846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F7EF"/>
                </a:solidFill>
                <a:latin typeface="Segoe UI"/>
              </a:rPr>
              <a:t>Elyra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5024" y="7406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80">
                <a:solidFill>
                  <a:srgbClr val="8893A3"/>
                </a:solidFill>
                <a:latin typeface="Segoe UI"/>
              </a:rPr>
              <a:t>Pehchaan Layer · India-first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19895" y="56692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01725">
              <a:alpha val="88000"/>
            </a:srgbClr>
          </a:solidFill>
          <a:ln w="7620">
            <a:solidFill>
              <a:srgbClr val="46556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84487" y="566928"/>
            <a:ext cx="19568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80">
                <a:solidFill>
                  <a:srgbClr val="FFC56E"/>
                </a:solidFill>
                <a:latin typeface="Segoe UI"/>
              </a:rPr>
              <a:t>SEED · INVESTOR DECK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0116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0" b="0" i="1">
                <a:solidFill>
                  <a:srgbClr val="FBF7EF"/>
                </a:solidFill>
                <a:latin typeface="Georgia"/>
              </a:rPr>
              <a:t>Elyra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2376" y="3950208"/>
            <a:ext cx="1280160" cy="54864"/>
          </a:xfrm>
          <a:prstGeom prst="roundRect">
            <a:avLst>
              <a:gd name="adj" fmla="val 50000"/>
            </a:avLst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002536" y="3950208"/>
            <a:ext cx="1463040" cy="54864"/>
          </a:xfrm>
          <a:prstGeom prst="roundRect">
            <a:avLst>
              <a:gd name="adj" fmla="val 50000"/>
            </a:avLst>
          </a:prstGeom>
          <a:solidFill>
            <a:srgbClr val="FF6F8E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465576" y="3950208"/>
            <a:ext cx="822960" cy="54864"/>
          </a:xfrm>
          <a:prstGeom prst="roundRect">
            <a:avLst>
              <a:gd name="adj" fmla="val 50000"/>
            </a:avLst>
          </a:prstGeom>
          <a:solidFill>
            <a:srgbClr val="9384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160520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1">
                <a:solidFill>
                  <a:srgbClr val="C8D0DA"/>
                </a:solidFill>
                <a:latin typeface="Georgia"/>
              </a:rPr>
              <a:t>When identity is sensitive, </a:t>
            </a:r>
            <a:r>
              <a:rPr sz="3000" b="0" i="1">
                <a:solidFill>
                  <a:srgbClr val="FFC56E"/>
                </a:solidFill>
                <a:latin typeface="Georgia"/>
              </a:rPr>
              <a:t>trust</a:t>
            </a:r>
            <a:r>
              <a:rPr sz="3000" b="0" i="1">
                <a:solidFill>
                  <a:srgbClr val="C8D0DA"/>
                </a:solidFill>
                <a:latin typeface="Georgia"/>
              </a:rPr>
              <a:t> becomes the product.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4864608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240">
                <a:solidFill>
                  <a:srgbClr val="8893A3"/>
                </a:solidFill>
                <a:latin typeface="Segoe UI"/>
              </a:rPr>
              <a:t>PEHCHAAN LAYER  ·  INDIA-FIRST  ·  PRIVACY-FIRST LGBTQIA+ CONNECTION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5532120"/>
            <a:ext cx="2660904" cy="731520"/>
          </a:xfrm>
          <a:prstGeom prst="roundRect">
            <a:avLst>
              <a:gd name="adj" fmla="val 22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740664" y="5550408"/>
            <a:ext cx="2551176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86968" y="5623560"/>
            <a:ext cx="21579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FBF7EF"/>
                </a:solidFill>
                <a:latin typeface="Georgia"/>
              </a:rPr>
              <a:t>256-bit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" y="598932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80">
                <a:solidFill>
                  <a:srgbClr val="8893A3"/>
                </a:solidFill>
                <a:latin typeface="Segoe UI"/>
              </a:rPr>
              <a:t>AES private layer</a:t>
            </a:r>
          </a:p>
        </p:txBody>
      </p:sp>
      <p:sp>
        <p:nvSpPr>
          <p:cNvPr id="53" name="Oval 52"/>
          <p:cNvSpPr/>
          <p:nvPr/>
        </p:nvSpPr>
        <p:spPr>
          <a:xfrm>
            <a:off x="3017520" y="5751576"/>
            <a:ext cx="128016" cy="128016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465576" y="5532120"/>
            <a:ext cx="2660904" cy="731520"/>
          </a:xfrm>
          <a:prstGeom prst="roundRect">
            <a:avLst>
              <a:gd name="adj" fmla="val 22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3520440" y="5550408"/>
            <a:ext cx="2551176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666744" y="5623560"/>
            <a:ext cx="21579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FBF7EF"/>
                </a:solidFill>
                <a:latin typeface="Georgia"/>
              </a:rPr>
              <a:t>384d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66744" y="598932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80">
                <a:solidFill>
                  <a:srgbClr val="8893A3"/>
                </a:solidFill>
                <a:latin typeface="Segoe UI"/>
              </a:rPr>
              <a:t>intent embeddings</a:t>
            </a:r>
          </a:p>
        </p:txBody>
      </p:sp>
      <p:sp>
        <p:nvSpPr>
          <p:cNvPr id="58" name="Oval 57"/>
          <p:cNvSpPr/>
          <p:nvPr/>
        </p:nvSpPr>
        <p:spPr>
          <a:xfrm>
            <a:off x="5797296" y="5751576"/>
            <a:ext cx="128016" cy="128016"/>
          </a:xfrm>
          <a:prstGeom prst="ellipse">
            <a:avLst/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45352" y="5532120"/>
            <a:ext cx="2660904" cy="731520"/>
          </a:xfrm>
          <a:prstGeom prst="roundRect">
            <a:avLst>
              <a:gd name="adj" fmla="val 22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6300216" y="5550408"/>
            <a:ext cx="2551176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46520" y="5623560"/>
            <a:ext cx="21579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FBF7EF"/>
                </a:solidFill>
                <a:latin typeface="Georgia"/>
              </a:rPr>
              <a:t>₹499+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598932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80">
                <a:solidFill>
                  <a:srgbClr val="8893A3"/>
                </a:solidFill>
                <a:latin typeface="Segoe UI"/>
              </a:rPr>
              <a:t>premium ARPU path</a:t>
            </a:r>
          </a:p>
        </p:txBody>
      </p:sp>
      <p:sp>
        <p:nvSpPr>
          <p:cNvPr id="63" name="Oval 62"/>
          <p:cNvSpPr/>
          <p:nvPr/>
        </p:nvSpPr>
        <p:spPr>
          <a:xfrm>
            <a:off x="8577072" y="5751576"/>
            <a:ext cx="128016" cy="128016"/>
          </a:xfrm>
          <a:prstGeom prst="ellipse">
            <a:avLst/>
          </a:prstGeom>
          <a:solidFill>
            <a:srgbClr val="FF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025128" y="5532120"/>
            <a:ext cx="2660904" cy="731520"/>
          </a:xfrm>
          <a:prstGeom prst="roundRect">
            <a:avLst>
              <a:gd name="adj" fmla="val 22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9079992" y="5550408"/>
            <a:ext cx="2551176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226296" y="5623560"/>
            <a:ext cx="21579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FBF7EF"/>
                </a:solidFill>
                <a:latin typeface="Georgia"/>
              </a:rPr>
              <a:t>91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26296" y="598932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80">
                <a:solidFill>
                  <a:srgbClr val="8893A3"/>
                </a:solidFill>
                <a:latin typeface="Segoe UI"/>
              </a:rPr>
              <a:t>trust score, live</a:t>
            </a:r>
          </a:p>
        </p:txBody>
      </p:sp>
      <p:sp>
        <p:nvSpPr>
          <p:cNvPr id="68" name="Oval 67"/>
          <p:cNvSpPr/>
          <p:nvPr/>
        </p:nvSpPr>
        <p:spPr>
          <a:xfrm>
            <a:off x="11356848" y="5751576"/>
            <a:ext cx="128016" cy="128016"/>
          </a:xfrm>
          <a:prstGeom prst="ellipse">
            <a:avLst/>
          </a:prstGeom>
          <a:solidFill>
            <a:srgbClr val="93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25735" y="6519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8893A3"/>
                </a:solidFill>
                <a:latin typeface="Consolas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665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5331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2996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0662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5993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659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1324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4321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987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318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2649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315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7980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7665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35331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02996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70662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8328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05993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73659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41324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8990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76656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595360" y="-3108960"/>
            <a:ext cx="7132320" cy="7132320"/>
          </a:xfrm>
          <a:prstGeom prst="ellipse">
            <a:avLst/>
          </a:prstGeom>
          <a:solidFill>
            <a:srgbClr val="FF6F8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0" y="4206240"/>
            <a:ext cx="6035040" cy="6035040"/>
          </a:xfrm>
          <a:prstGeom prst="ellipse">
            <a:avLst/>
          </a:prstGeom>
          <a:solidFill>
            <a:srgbClr val="FFC56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692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FF6F8E"/>
                </a:solidFill>
                <a:latin typeface="Segoe UI"/>
              </a:rPr>
              <a:t>01 · THE PROBLEM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877824"/>
            <a:ext cx="1082009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1">
                <a:solidFill>
                  <a:srgbClr val="FBF7EF"/>
                </a:solidFill>
                <a:latin typeface="Georgia"/>
              </a:rPr>
              <a:t>Dating products assume
everyone can be public.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331720"/>
            <a:ext cx="8778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8D0DA"/>
                </a:solidFill>
                <a:latin typeface="Segoe UI"/>
              </a:rPr>
              <a:t>For most LGBTQIA+ users in India, disclosure, harassment, fake profiles, and unsafe offline meetings aren't edge cases — they're core adoption barriers no swipe-first product solves.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108960"/>
            <a:ext cx="502920" cy="36576"/>
          </a:xfrm>
          <a:prstGeom prst="roundRect">
            <a:avLst>
              <a:gd name="adj" fmla="val 50000"/>
            </a:avLst>
          </a:prstGeom>
          <a:solidFill>
            <a:srgbClr val="FF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80160" y="3121761"/>
            <a:ext cx="2194560" cy="10972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3310128"/>
            <a:ext cx="3520440" cy="2834640"/>
          </a:xfrm>
          <a:prstGeom prst="roundRect">
            <a:avLst>
              <a:gd name="adj" fmla="val 7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40664" y="3328416"/>
            <a:ext cx="3410712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6696" y="3621024"/>
            <a:ext cx="41148" cy="2212848"/>
          </a:xfrm>
          <a:prstGeom prst="roundRect">
            <a:avLst>
              <a:gd name="adj" fmla="val 50000"/>
            </a:avLst>
          </a:prstGeom>
          <a:solidFill>
            <a:srgbClr val="FF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3584448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0" i="1">
                <a:solidFill>
                  <a:srgbClr val="FBF7EF"/>
                </a:solidFill>
                <a:latin typeface="Georgia"/>
              </a:rPr>
              <a:t>73%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481888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spc="20">
                <a:solidFill>
                  <a:srgbClr val="FF6F8E"/>
                </a:solidFill>
                <a:latin typeface="Segoe UI"/>
              </a:rPr>
              <a:t>fear public exposure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184647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Identity-sensitive users won't post photos, names, or location on swipe apps that treat profiles as public-by-default.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310128"/>
            <a:ext cx="3520440" cy="2834640"/>
          </a:xfrm>
          <a:prstGeom prst="roundRect">
            <a:avLst>
              <a:gd name="adj" fmla="val 7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4389120" y="3328416"/>
            <a:ext cx="3410712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645152" y="3621024"/>
            <a:ext cx="41148" cy="2212848"/>
          </a:xfrm>
          <a:prstGeom prst="roundRect">
            <a:avLst>
              <a:gd name="adj" fmla="val 50000"/>
            </a:avLst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37176" y="3584448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0" i="1">
                <a:solidFill>
                  <a:srgbClr val="FBF7EF"/>
                </a:solidFill>
                <a:latin typeface="Georgia"/>
              </a:rPr>
              <a:t>1 in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37176" y="481888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spc="20">
                <a:solidFill>
                  <a:srgbClr val="FFC56E"/>
                </a:solidFill>
                <a:latin typeface="Segoe UI"/>
              </a:rPr>
              <a:t>encounter fake profiles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37176" y="5184647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Without verification, moderation, and risk scoring, trust collapses before the first conversation begins.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82712" y="3310128"/>
            <a:ext cx="3520440" cy="2834640"/>
          </a:xfrm>
          <a:prstGeom prst="roundRect">
            <a:avLst>
              <a:gd name="adj" fmla="val 7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8037576" y="3328416"/>
            <a:ext cx="3410712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293608" y="3621024"/>
            <a:ext cx="41148" cy="2212848"/>
          </a:xfrm>
          <a:prstGeom prst="roundRect">
            <a:avLst>
              <a:gd name="adj" fmla="val 50000"/>
            </a:avLst>
          </a:prstGeom>
          <a:solidFill>
            <a:srgbClr val="93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85632" y="3584448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0" i="1">
                <a:solidFill>
                  <a:srgbClr val="FBF7EF"/>
                </a:solidFill>
                <a:latin typeface="Georgia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481888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spc="20">
                <a:solidFill>
                  <a:srgbClr val="9384FF"/>
                </a:solidFill>
                <a:latin typeface="Segoe UI"/>
              </a:rPr>
              <a:t>safety nets for offline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5184647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First meetings happen offline — but no major app builds emergency contacts, check-ins, or SOS into the product loop.</a:t>
            </a:r>
          </a:p>
        </p:txBody>
      </p:sp>
      <p:sp>
        <p:nvSpPr>
          <p:cNvPr id="58" name="Oval 57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6F8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6446520"/>
            <a:ext cx="311810" cy="3118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61008"/>
                </a:solidFill>
                <a:latin typeface="Georgia"/>
              </a:rPr>
              <a:t>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914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BF7EF"/>
                </a:solidFill>
                <a:latin typeface="Segoe UI"/>
              </a:rPr>
              <a:t>Elyra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914" y="66842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" b="1" i="0" spc="80">
                <a:solidFill>
                  <a:srgbClr val="8893A3"/>
                </a:solidFill>
                <a:latin typeface="Segoe UI"/>
              </a:rPr>
              <a:t>Investor deck · 2026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85800" y="6437376"/>
            <a:ext cx="10820095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0225735" y="6519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8893A3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665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5331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2996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0662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5993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659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1324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4321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987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318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2649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315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7980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7665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35331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02996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70662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8328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05993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73659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41324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8990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76656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-3291840" y="2194560"/>
            <a:ext cx="6766560" cy="6766560"/>
          </a:xfrm>
          <a:prstGeom prst="ellipse">
            <a:avLst/>
          </a:prstGeom>
          <a:solidFill>
            <a:srgbClr val="43E2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463040" y="4389120"/>
            <a:ext cx="5120640" cy="5120640"/>
          </a:xfrm>
          <a:prstGeom prst="ellipse">
            <a:avLst/>
          </a:prstGeom>
          <a:solidFill>
            <a:srgbClr val="9384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692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43E2D0"/>
                </a:solidFill>
                <a:latin typeface="Segoe UI"/>
              </a:rPr>
              <a:t>02 · WHY NOW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877824"/>
            <a:ext cx="1082009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1">
                <a:solidFill>
                  <a:srgbClr val="FBF7EF"/>
                </a:solidFill>
                <a:latin typeface="Georgia"/>
              </a:rPr>
              <a:t>Three tailwinds converge in 2026.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331720"/>
            <a:ext cx="8778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8D0DA"/>
                </a:solidFill>
                <a:latin typeface="Segoe UI"/>
              </a:rPr>
              <a:t>Cultural shift, real willingness-to-pay for privacy, and AI safety infrastructure that's finally cheap enough to ship as a default.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108960"/>
            <a:ext cx="502920" cy="36576"/>
          </a:xfrm>
          <a:prstGeom prst="roundRect">
            <a:avLst>
              <a:gd name="adj" fmla="val 50000"/>
            </a:avLst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80160" y="3121761"/>
            <a:ext cx="2194560" cy="10972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3310128"/>
            <a:ext cx="3520440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40664" y="3328416"/>
            <a:ext cx="3410712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14984" y="3602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FF6F8E"/>
                </a:solidFill>
                <a:latin typeface="Georgia"/>
              </a:rPr>
              <a:t>01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14984" y="4151376"/>
            <a:ext cx="2862072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14984" y="4315968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FBF7EF"/>
                </a:solidFill>
                <a:latin typeface="Georgia"/>
              </a:rPr>
              <a:t>Identity is mainstream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" y="5001768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8D0DA"/>
                </a:solidFill>
                <a:latin typeface="Segoe UI"/>
              </a:rPr>
              <a:t>Pride, queer creators, and Section 377's reversal moved LGBTQIA+ identity from invisible to digitally native — but product hasn't caught up.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310128"/>
            <a:ext cx="3520440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4389120" y="3328416"/>
            <a:ext cx="3410712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663440" y="3602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FFC56E"/>
                </a:solidFill>
                <a:latin typeface="Georgia"/>
              </a:rPr>
              <a:t>02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663440" y="4151376"/>
            <a:ext cx="2862072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663440" y="4315968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FBF7EF"/>
                </a:solidFill>
                <a:latin typeface="Georgia"/>
              </a:rPr>
              <a:t>Privacy is a paid behavior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5001768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8D0DA"/>
                </a:solidFill>
                <a:latin typeface="Segoe UI"/>
              </a:rPr>
              <a:t>Indian users pay for VPNs, vault apps, and incognito tiers. Willingness-to-pay for privacy as a feature is at an all-time high.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82712" y="3310128"/>
            <a:ext cx="3520440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8037576" y="3328416"/>
            <a:ext cx="3410712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311896" y="3602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43E2D0"/>
                </a:solidFill>
                <a:latin typeface="Georgia"/>
              </a:rPr>
              <a:t>03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311896" y="4151376"/>
            <a:ext cx="2862072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311896" y="4315968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FBF7EF"/>
                </a:solidFill>
                <a:latin typeface="Georgia"/>
              </a:rPr>
              <a:t>AI safety is finally cheap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1896" y="5001768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8D0DA"/>
                </a:solidFill>
                <a:latin typeface="Segoe UI"/>
              </a:rPr>
              <a:t>Open-weights moderation, embeddings, and on-device blur are production-grade. What cost $50M five years ago is now a fraction.</a:t>
            </a:r>
          </a:p>
        </p:txBody>
      </p:sp>
      <p:sp>
        <p:nvSpPr>
          <p:cNvPr id="58" name="Oval 57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6F8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6446520"/>
            <a:ext cx="311810" cy="3118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61008"/>
                </a:solidFill>
                <a:latin typeface="Georgia"/>
              </a:rPr>
              <a:t>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914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BF7EF"/>
                </a:solidFill>
                <a:latin typeface="Segoe UI"/>
              </a:rPr>
              <a:t>Elyra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914" y="66842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" b="1" i="0" spc="80">
                <a:solidFill>
                  <a:srgbClr val="8893A3"/>
                </a:solidFill>
                <a:latin typeface="Segoe UI"/>
              </a:rPr>
              <a:t>Investor deck · 2026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85800" y="6437376"/>
            <a:ext cx="10820095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0225735" y="6519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8893A3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665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5331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2996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0662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5993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659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1324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4321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987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318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2649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315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7980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7665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35331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02996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70662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8328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05993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73659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41324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8990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76656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-3291840" y="2194560"/>
            <a:ext cx="6766560" cy="6766560"/>
          </a:xfrm>
          <a:prstGeom prst="ellipse">
            <a:avLst/>
          </a:prstGeom>
          <a:solidFill>
            <a:srgbClr val="43E2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0" y="-3108960"/>
            <a:ext cx="7132320" cy="7132320"/>
          </a:xfrm>
          <a:prstGeom prst="ellipse">
            <a:avLst/>
          </a:prstGeom>
          <a:solidFill>
            <a:srgbClr val="FF6F8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0" y="4206240"/>
            <a:ext cx="6035040" cy="6035040"/>
          </a:xfrm>
          <a:prstGeom prst="ellipse">
            <a:avLst/>
          </a:prstGeom>
          <a:solidFill>
            <a:srgbClr val="FFC56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6692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FFC56E"/>
                </a:solidFill>
                <a:latin typeface="Segoe UI"/>
              </a:rPr>
              <a:t>03 · THE SOLUTION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877824"/>
            <a:ext cx="1082009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1">
                <a:solidFill>
                  <a:srgbClr val="FBF7EF"/>
                </a:solidFill>
                <a:latin typeface="Georgia"/>
              </a:rPr>
              <a:t>Elyra is the Trust OS
for modern connection.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331720"/>
            <a:ext cx="8778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8D0DA"/>
                </a:solidFill>
                <a:latin typeface="Segoe UI"/>
              </a:rPr>
              <a:t>Pehchaan Layer dual identity, explainable matching, AI moderation, risk scoring, Safe Date, and premium privacy — one product surface.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108960"/>
            <a:ext cx="502920" cy="36576"/>
          </a:xfrm>
          <a:prstGeom prst="roundRect">
            <a:avLst>
              <a:gd name="adj" fmla="val 50000"/>
            </a:avLst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280160" y="3121761"/>
            <a:ext cx="2194560" cy="10972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" y="3310128"/>
            <a:ext cx="2596896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740664" y="3328416"/>
            <a:ext cx="2487168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78408" y="3602736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1">
                <a:solidFill>
                  <a:srgbClr val="FF6F8E"/>
                </a:solidFill>
                <a:latin typeface="Georgia"/>
              </a:rPr>
              <a:t>01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78408" y="4224528"/>
            <a:ext cx="2011680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78408" y="437083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1">
                <a:solidFill>
                  <a:srgbClr val="FBF7EF"/>
                </a:solidFill>
                <a:latin typeface="Georgia"/>
              </a:rPr>
              <a:t>Dual identity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4937760"/>
            <a:ext cx="20482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Public profile stays light. Private fields stay AES-256 encrypted, reveal-based, and audit-logged.</a:t>
            </a:r>
          </a:p>
        </p:txBody>
      </p:sp>
      <p:sp>
        <p:nvSpPr>
          <p:cNvPr id="47" name="Oval 46"/>
          <p:cNvSpPr/>
          <p:nvPr/>
        </p:nvSpPr>
        <p:spPr>
          <a:xfrm>
            <a:off x="2807208" y="3675888"/>
            <a:ext cx="164592" cy="164592"/>
          </a:xfrm>
          <a:prstGeom prst="ellipse">
            <a:avLst/>
          </a:prstGeom>
          <a:solidFill>
            <a:srgbClr val="FF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01568" y="3310128"/>
            <a:ext cx="2596896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456432" y="3328416"/>
            <a:ext cx="2487168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694176" y="3602736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1">
                <a:solidFill>
                  <a:srgbClr val="FFC56E"/>
                </a:solidFill>
                <a:latin typeface="Georgia"/>
              </a:rPr>
              <a:t>02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694176" y="4224528"/>
            <a:ext cx="2011680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694176" y="437083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1">
                <a:solidFill>
                  <a:srgbClr val="FBF7EF"/>
                </a:solidFill>
                <a:latin typeface="Georgia"/>
              </a:rPr>
              <a:t>Intent matching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94176" y="4937760"/>
            <a:ext cx="20482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No swipe pressure. Candidates ranked by intent, preference, distance, and 384d embeddings.</a:t>
            </a:r>
          </a:p>
        </p:txBody>
      </p:sp>
      <p:sp>
        <p:nvSpPr>
          <p:cNvPr id="54" name="Oval 53"/>
          <p:cNvSpPr/>
          <p:nvPr/>
        </p:nvSpPr>
        <p:spPr>
          <a:xfrm>
            <a:off x="5522976" y="3675888"/>
            <a:ext cx="164592" cy="164592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117336" y="3310128"/>
            <a:ext cx="2596896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6172200" y="3328416"/>
            <a:ext cx="2487168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409944" y="3602736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1">
                <a:solidFill>
                  <a:srgbClr val="43E2D0"/>
                </a:solidFill>
                <a:latin typeface="Georgia"/>
              </a:rPr>
              <a:t>03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409944" y="4224528"/>
            <a:ext cx="2011680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409944" y="437083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1">
                <a:solidFill>
                  <a:srgbClr val="FBF7EF"/>
                </a:solidFill>
                <a:latin typeface="Georgia"/>
              </a:rPr>
              <a:t>AI safety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9944" y="4937760"/>
            <a:ext cx="20482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Toxicity scoring, fake-profile heuristics, image checks, and explainable risk traces in-product.</a:t>
            </a:r>
          </a:p>
        </p:txBody>
      </p:sp>
      <p:sp>
        <p:nvSpPr>
          <p:cNvPr id="61" name="Oval 60"/>
          <p:cNvSpPr/>
          <p:nvPr/>
        </p:nvSpPr>
        <p:spPr>
          <a:xfrm>
            <a:off x="8238744" y="3675888"/>
            <a:ext cx="164592" cy="164592"/>
          </a:xfrm>
          <a:prstGeom prst="ellipse">
            <a:avLst/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833104" y="3310128"/>
            <a:ext cx="2596896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8887968" y="3328416"/>
            <a:ext cx="2487168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9125712" y="3602736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1">
                <a:solidFill>
                  <a:srgbClr val="9384FF"/>
                </a:solidFill>
                <a:latin typeface="Georgia"/>
              </a:rPr>
              <a:t>04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125712" y="4224528"/>
            <a:ext cx="2011680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125712" y="437083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1">
                <a:solidFill>
                  <a:srgbClr val="FBF7EF"/>
                </a:solidFill>
                <a:latin typeface="Georgia"/>
              </a:rPr>
              <a:t>Safe 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25712" y="4937760"/>
            <a:ext cx="20482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Emergency contacts, timed check-ins, live location, and SOS — designed into the product loop.</a:t>
            </a:r>
          </a:p>
        </p:txBody>
      </p:sp>
      <p:sp>
        <p:nvSpPr>
          <p:cNvPr id="68" name="Oval 67"/>
          <p:cNvSpPr/>
          <p:nvPr/>
        </p:nvSpPr>
        <p:spPr>
          <a:xfrm>
            <a:off x="10954512" y="3675888"/>
            <a:ext cx="164592" cy="164592"/>
          </a:xfrm>
          <a:prstGeom prst="ellipse">
            <a:avLst/>
          </a:prstGeom>
          <a:solidFill>
            <a:srgbClr val="93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6F8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6446520"/>
            <a:ext cx="311810" cy="3118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61008"/>
                </a:solidFill>
                <a:latin typeface="Georgia"/>
              </a:rPr>
              <a:t>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914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BF7EF"/>
                </a:solidFill>
                <a:latin typeface="Segoe UI"/>
              </a:rPr>
              <a:t>Elyra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3914" y="66842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" b="1" i="0" spc="80">
                <a:solidFill>
                  <a:srgbClr val="8893A3"/>
                </a:solidFill>
                <a:latin typeface="Segoe UI"/>
              </a:rPr>
              <a:t>Investor deck · 2026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85800" y="6437376"/>
            <a:ext cx="10820095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225735" y="6519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8893A3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665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5331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2996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0662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5993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659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1324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4321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987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318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2649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315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7980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7665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35331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02996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70662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8328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05993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73659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41324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8990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76656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-3291840" y="2194560"/>
            <a:ext cx="6766560" cy="6766560"/>
          </a:xfrm>
          <a:prstGeom prst="ellipse">
            <a:avLst/>
          </a:prstGeom>
          <a:solidFill>
            <a:srgbClr val="43E2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0" y="4206240"/>
            <a:ext cx="6035040" cy="6035040"/>
          </a:xfrm>
          <a:prstGeom prst="ellipse">
            <a:avLst/>
          </a:prstGeom>
          <a:solidFill>
            <a:srgbClr val="FFC56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692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43E2D0"/>
                </a:solidFill>
                <a:latin typeface="Segoe UI"/>
              </a:rPr>
              <a:t>04 · INTERACTIVE PRODUCT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877824"/>
            <a:ext cx="1082009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1">
                <a:solidFill>
                  <a:srgbClr val="FBF7EF"/>
                </a:solidFill>
                <a:latin typeface="Georgia"/>
              </a:rPr>
              <a:t>The full investor flow,
in under 90 seconds.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331720"/>
            <a:ext cx="8778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8D0DA"/>
                </a:solidFill>
                <a:latin typeface="Segoe UI"/>
              </a:rPr>
              <a:t>Five panels, one cockpit: simulate onboarding, dual-identity reveal, match generation, AI moderation, and Safe Date activation.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108960"/>
            <a:ext cx="502920" cy="36576"/>
          </a:xfrm>
          <a:prstGeom prst="roundRect">
            <a:avLst>
              <a:gd name="adj" fmla="val 50000"/>
            </a:avLst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80160" y="3121761"/>
            <a:ext cx="2194560" cy="10972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3310128"/>
            <a:ext cx="4023360" cy="2834640"/>
          </a:xfrm>
          <a:prstGeom prst="roundRect">
            <a:avLst>
              <a:gd name="adj" fmla="val 6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40664" y="3328416"/>
            <a:ext cx="3913632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14984" y="35844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8893A3"/>
                </a:solidFill>
                <a:latin typeface="Segoe UI"/>
              </a:rPr>
              <a:t>INVESTOR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3584448"/>
            <a:ext cx="768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C56E"/>
                </a:solidFill>
                <a:latin typeface="Consolas"/>
              </a:rPr>
              <a:t>1 / 5</a:t>
            </a:r>
          </a:p>
        </p:txBody>
      </p:sp>
      <p:sp>
        <p:nvSpPr>
          <p:cNvPr id="44" name="Oval 43"/>
          <p:cNvSpPr/>
          <p:nvPr/>
        </p:nvSpPr>
        <p:spPr>
          <a:xfrm>
            <a:off x="1014984" y="4059936"/>
            <a:ext cx="310896" cy="310896"/>
          </a:xfrm>
          <a:prstGeom prst="ellipse">
            <a:avLst/>
          </a:prstGeom>
          <a:solidFill>
            <a:srgbClr val="FF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" y="40599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61008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0472" y="402336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BF7EF"/>
                </a:solidFill>
                <a:latin typeface="Segoe UI"/>
              </a:rPr>
              <a:t>Onboarding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90472" y="424281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40">
                <a:solidFill>
                  <a:srgbClr val="8893A3"/>
                </a:solidFill>
                <a:latin typeface="Segoe UI"/>
              </a:rPr>
              <a:t>Identity + intent capture</a:t>
            </a:r>
          </a:p>
        </p:txBody>
      </p:sp>
      <p:sp>
        <p:nvSpPr>
          <p:cNvPr id="48" name="Oval 47"/>
          <p:cNvSpPr/>
          <p:nvPr/>
        </p:nvSpPr>
        <p:spPr>
          <a:xfrm>
            <a:off x="1014984" y="4471416"/>
            <a:ext cx="310896" cy="310896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984" y="44714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61008"/>
                </a:solidFill>
                <a:latin typeface="Segoe U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90472" y="443484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BF7EF"/>
                </a:solidFill>
                <a:latin typeface="Segoe UI"/>
              </a:rPr>
              <a:t>Dual identity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90472" y="465429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40">
                <a:solidFill>
                  <a:srgbClr val="8893A3"/>
                </a:solidFill>
                <a:latin typeface="Segoe UI"/>
              </a:rPr>
              <a:t>Pehchaan Layer reveal</a:t>
            </a:r>
          </a:p>
        </p:txBody>
      </p:sp>
      <p:sp>
        <p:nvSpPr>
          <p:cNvPr id="52" name="Oval 51"/>
          <p:cNvSpPr/>
          <p:nvPr/>
        </p:nvSpPr>
        <p:spPr>
          <a:xfrm>
            <a:off x="1014984" y="4882896"/>
            <a:ext cx="310896" cy="310896"/>
          </a:xfrm>
          <a:prstGeom prst="ellipse">
            <a:avLst/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4984" y="48828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61008"/>
                </a:solidFill>
                <a:latin typeface="Segoe U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90472" y="484632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BF7EF"/>
                </a:solidFill>
                <a:latin typeface="Segoe UI"/>
              </a:rPr>
              <a:t>Matching AI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90472" y="506577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40">
                <a:solidFill>
                  <a:srgbClr val="8893A3"/>
                </a:solidFill>
                <a:latin typeface="Segoe UI"/>
              </a:rPr>
              <a:t>Explainable scoring</a:t>
            </a:r>
          </a:p>
        </p:txBody>
      </p:sp>
      <p:sp>
        <p:nvSpPr>
          <p:cNvPr id="56" name="Oval 55"/>
          <p:cNvSpPr/>
          <p:nvPr/>
        </p:nvSpPr>
        <p:spPr>
          <a:xfrm>
            <a:off x="1014984" y="5294376"/>
            <a:ext cx="310896" cy="310896"/>
          </a:xfrm>
          <a:prstGeom prst="ellipse">
            <a:avLst/>
          </a:prstGeom>
          <a:solidFill>
            <a:srgbClr val="93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4984" y="52943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61008"/>
                </a:solidFill>
                <a:latin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90472" y="525780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BF7EF"/>
                </a:solidFill>
                <a:latin typeface="Segoe UI"/>
              </a:rPr>
              <a:t>Moderated chat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90472" y="547725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40">
                <a:solidFill>
                  <a:srgbClr val="8893A3"/>
                </a:solidFill>
                <a:latin typeface="Segoe UI"/>
              </a:rPr>
              <a:t>Visible AI decisions</a:t>
            </a:r>
          </a:p>
        </p:txBody>
      </p:sp>
      <p:sp>
        <p:nvSpPr>
          <p:cNvPr id="60" name="Oval 59"/>
          <p:cNvSpPr/>
          <p:nvPr/>
        </p:nvSpPr>
        <p:spPr>
          <a:xfrm>
            <a:off x="1014984" y="5705856"/>
            <a:ext cx="310896" cy="310896"/>
          </a:xfrm>
          <a:prstGeom prst="ellipse">
            <a:avLst/>
          </a:prstGeom>
          <a:solidFill>
            <a:srgbClr val="6E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4984" y="57058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61008"/>
                </a:solidFill>
                <a:latin typeface="Segoe UI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90472" y="566928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BF7EF"/>
                </a:solidFill>
                <a:latin typeface="Segoe UI"/>
              </a:rPr>
              <a:t>Safe Date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588873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40">
                <a:solidFill>
                  <a:srgbClr val="8893A3"/>
                </a:solidFill>
                <a:latin typeface="Segoe UI"/>
              </a:rPr>
              <a:t>Offline safety loop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73752" y="3310128"/>
            <a:ext cx="6632143" cy="2834640"/>
          </a:xfrm>
          <a:prstGeom prst="roundRect">
            <a:avLst>
              <a:gd name="adj" fmla="val 6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928616" y="3328416"/>
            <a:ext cx="6522415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257800" y="35844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FFC56E"/>
                </a:solidFill>
                <a:latin typeface="Segoe UI"/>
              </a:rPr>
              <a:t>AI EXPLAINABILITY · LIVE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80015" y="355701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61F31">
              <a:alpha val="88000"/>
            </a:srgbClr>
          </a:solidFill>
          <a:ln w="7620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344607" y="3657600"/>
            <a:ext cx="109728" cy="109728"/>
          </a:xfrm>
          <a:prstGeom prst="ellipse">
            <a:avLst/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45775" y="3557016"/>
            <a:ext cx="4297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80">
                <a:solidFill>
                  <a:srgbClr val="43E2D0"/>
                </a:solidFill>
                <a:latin typeface="Segoe UI"/>
              </a:rPr>
              <a:t>TRUST 91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57800" y="3913632"/>
            <a:ext cx="58640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FBF7EF"/>
                </a:solidFill>
                <a:latin typeface="Georgia"/>
              </a:rPr>
              <a:t>Match · Aarav, 28  ·  92%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57800" y="459028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Intent match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79792" y="459028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C56E"/>
                </a:solidFill>
                <a:latin typeface="Consolas"/>
              </a:rPr>
              <a:t>30%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119872" y="4681728"/>
            <a:ext cx="2974543" cy="91440"/>
          </a:xfrm>
          <a:prstGeom prst="roundRect">
            <a:avLst>
              <a:gd name="adj" fmla="val 50000"/>
            </a:avLst>
          </a:prstGeom>
          <a:solidFill>
            <a:srgbClr val="1C27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119872" y="4681728"/>
            <a:ext cx="2855561" cy="91440"/>
          </a:xfrm>
          <a:prstGeom prst="roundRect">
            <a:avLst>
              <a:gd name="adj" fmla="val 50000"/>
            </a:avLst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57800" y="49377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Embedding similarity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79792" y="493776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C56E"/>
                </a:solidFill>
                <a:latin typeface="Consolas"/>
              </a:rPr>
              <a:t>35%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19872" y="5029200"/>
            <a:ext cx="2974543" cy="91440"/>
          </a:xfrm>
          <a:prstGeom prst="roundRect">
            <a:avLst>
              <a:gd name="adj" fmla="val 50000"/>
            </a:avLst>
          </a:prstGeom>
          <a:solidFill>
            <a:srgbClr val="1C27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119872" y="5029200"/>
            <a:ext cx="2617597" cy="91440"/>
          </a:xfrm>
          <a:prstGeom prst="roundRect">
            <a:avLst>
              <a:gd name="adj" fmla="val 50000"/>
            </a:avLst>
          </a:prstGeom>
          <a:solidFill>
            <a:srgbClr val="6E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257800" y="52852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Distance score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79792" y="52852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C56E"/>
                </a:solidFill>
                <a:latin typeface="Consolas"/>
              </a:rPr>
              <a:t>20%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119872" y="5376672"/>
            <a:ext cx="2974543" cy="91440"/>
          </a:xfrm>
          <a:prstGeom prst="roundRect">
            <a:avLst>
              <a:gd name="adj" fmla="val 50000"/>
            </a:avLst>
          </a:prstGeom>
          <a:solidFill>
            <a:srgbClr val="1C27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119872" y="5376672"/>
            <a:ext cx="2201161" cy="91440"/>
          </a:xfrm>
          <a:prstGeom prst="roundRect">
            <a:avLst>
              <a:gd name="adj" fmla="val 50000"/>
            </a:avLst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57800" y="563270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Preference fit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79792" y="563270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C56E"/>
                </a:solidFill>
                <a:latin typeface="Consolas"/>
              </a:rPr>
              <a:t>15%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19872" y="5724144"/>
            <a:ext cx="2974543" cy="91440"/>
          </a:xfrm>
          <a:prstGeom prst="roundRect">
            <a:avLst>
              <a:gd name="adj" fmla="val 50000"/>
            </a:avLst>
          </a:prstGeom>
          <a:solidFill>
            <a:srgbClr val="1C27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119872" y="5724144"/>
            <a:ext cx="2706834" cy="91440"/>
          </a:xfrm>
          <a:prstGeom prst="roundRect">
            <a:avLst>
              <a:gd name="adj" fmla="val 50000"/>
            </a:avLst>
          </a:prstGeom>
          <a:solidFill>
            <a:srgbClr val="FF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6F8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5800" y="6446520"/>
            <a:ext cx="311810" cy="3118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61008"/>
                </a:solidFill>
                <a:latin typeface="Georgia"/>
              </a:rPr>
              <a:t>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43914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BF7EF"/>
                </a:solidFill>
                <a:latin typeface="Segoe UI"/>
              </a:rPr>
              <a:t>Elyra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43914" y="66842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" b="1" i="0" spc="80">
                <a:solidFill>
                  <a:srgbClr val="8893A3"/>
                </a:solidFill>
                <a:latin typeface="Segoe UI"/>
              </a:rPr>
              <a:t>Investor deck · 2026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85800" y="6437376"/>
            <a:ext cx="10820095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0225735" y="6519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8893A3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665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5331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2996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0662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5993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659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1324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4321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987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318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2649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315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7980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7665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35331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02996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70662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8328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05993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73659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41324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8990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76656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595360" y="-3108960"/>
            <a:ext cx="7132320" cy="7132320"/>
          </a:xfrm>
          <a:prstGeom prst="ellipse">
            <a:avLst/>
          </a:prstGeom>
          <a:solidFill>
            <a:srgbClr val="FF6F8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463040" y="4389120"/>
            <a:ext cx="5120640" cy="5120640"/>
          </a:xfrm>
          <a:prstGeom prst="ellipse">
            <a:avLst/>
          </a:prstGeom>
          <a:solidFill>
            <a:srgbClr val="9384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692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9384FF"/>
                </a:solidFill>
                <a:latin typeface="Segoe UI"/>
              </a:rPr>
              <a:t>05 · CORE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877824"/>
            <a:ext cx="1082009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1">
                <a:solidFill>
                  <a:srgbClr val="FBF7EF"/>
                </a:solidFill>
                <a:latin typeface="Georgia"/>
              </a:rPr>
              <a:t>The moat, in plain English.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331720"/>
            <a:ext cx="8778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8D0DA"/>
                </a:solidFill>
                <a:latin typeface="Segoe UI"/>
              </a:rPr>
              <a:t>Each is a feature competitors could ship. The moat is shipping them together, visibly, and as the product surface itself.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108960"/>
            <a:ext cx="502920" cy="36576"/>
          </a:xfrm>
          <a:prstGeom prst="roundRect">
            <a:avLst>
              <a:gd name="adj" fmla="val 50000"/>
            </a:avLst>
          </a:prstGeom>
          <a:solidFill>
            <a:srgbClr val="93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80160" y="3121761"/>
            <a:ext cx="2194560" cy="10972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3310128"/>
            <a:ext cx="10820095" cy="512064"/>
          </a:xfrm>
          <a:prstGeom prst="roundRect">
            <a:avLst>
              <a:gd name="adj" fmla="val 30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40664" y="3328416"/>
            <a:ext cx="10710367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60120" y="347472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F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99032" y="3310128"/>
            <a:ext cx="3291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BF7EF"/>
                </a:solidFill>
                <a:latin typeface="Segoe UI"/>
              </a:rPr>
              <a:t>Pehchaan Layer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54880" y="3429000"/>
            <a:ext cx="0" cy="27432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937760" y="3310128"/>
            <a:ext cx="63852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8D0DA"/>
                </a:solidFill>
                <a:latin typeface="Segoe UI"/>
              </a:rPr>
              <a:t>Dual identity — AES-256-GCM, reveal-by-consent, audit-trailed, revocable. Architecture, not a setting.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3913632"/>
            <a:ext cx="10820095" cy="512064"/>
          </a:xfrm>
          <a:prstGeom prst="roundRect">
            <a:avLst>
              <a:gd name="adj" fmla="val 30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740664" y="3931920"/>
            <a:ext cx="10710367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60120" y="40782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99032" y="3913632"/>
            <a:ext cx="3291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BF7EF"/>
                </a:solidFill>
                <a:latin typeface="Segoe UI"/>
              </a:rPr>
              <a:t>Explainable matching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754880" y="4032504"/>
            <a:ext cx="0" cy="27432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937760" y="3913632"/>
            <a:ext cx="63852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8D0DA"/>
                </a:solidFill>
                <a:latin typeface="Segoe UI"/>
              </a:rPr>
              <a:t>Composite score with weights surfaced to the user. Builds trust and satisfies algorithmic-transparency regulation.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4517136"/>
            <a:ext cx="10820095" cy="512064"/>
          </a:xfrm>
          <a:prstGeom prst="roundRect">
            <a:avLst>
              <a:gd name="adj" fmla="val 30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40664" y="4535424"/>
            <a:ext cx="10710367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60120" y="468172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99032" y="4517136"/>
            <a:ext cx="3291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BF7EF"/>
                </a:solidFill>
                <a:latin typeface="Segoe UI"/>
              </a:rPr>
              <a:t>Visible AI moderation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754880" y="4636008"/>
            <a:ext cx="0" cy="27432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937760" y="4517136"/>
            <a:ext cx="63852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8D0DA"/>
                </a:solidFill>
                <a:latin typeface="Segoe UI"/>
              </a:rPr>
              <a:t>Every chat decision shows category, toxicity, action, and a reversible "View anyway" path.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5800" y="5120640"/>
            <a:ext cx="10820095" cy="512064"/>
          </a:xfrm>
          <a:prstGeom prst="roundRect">
            <a:avLst>
              <a:gd name="adj" fmla="val 30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740664" y="5138928"/>
            <a:ext cx="10710367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60120" y="528523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93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99032" y="5120640"/>
            <a:ext cx="3291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BF7EF"/>
                </a:solidFill>
                <a:latin typeface="Segoe UI"/>
              </a:rPr>
              <a:t>Safe Date as product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754880" y="5239512"/>
            <a:ext cx="0" cy="27432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937760" y="5120640"/>
            <a:ext cx="63852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8D0DA"/>
                </a:solidFill>
                <a:latin typeface="Segoe UI"/>
              </a:rPr>
              <a:t>Emergency contact, check-ins, SOS, live route, missed-check-in escalation — first-class flow.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5800" y="5724144"/>
            <a:ext cx="10820095" cy="512064"/>
          </a:xfrm>
          <a:prstGeom prst="roundRect">
            <a:avLst>
              <a:gd name="adj" fmla="val 30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740664" y="5742432"/>
            <a:ext cx="10710367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960120" y="588873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6E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99032" y="5724144"/>
            <a:ext cx="3291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BF7EF"/>
                </a:solidFill>
                <a:latin typeface="Segoe UI"/>
              </a:rPr>
              <a:t>Composite trust score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754880" y="5843016"/>
            <a:ext cx="0" cy="27432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937760" y="5724144"/>
            <a:ext cx="63852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8D0DA"/>
                </a:solidFill>
                <a:latin typeface="Segoe UI"/>
              </a:rPr>
              <a:t>Verification + toxicity + reports + fake-profile + age. One number that earns the right to charge.</a:t>
            </a:r>
          </a:p>
        </p:txBody>
      </p:sp>
      <p:sp>
        <p:nvSpPr>
          <p:cNvPr id="70" name="Oval 69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6F8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6446520"/>
            <a:ext cx="311810" cy="3118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61008"/>
                </a:solidFill>
                <a:latin typeface="Georgia"/>
              </a:rPr>
              <a:t>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3914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BF7EF"/>
                </a:solidFill>
                <a:latin typeface="Segoe UI"/>
              </a:rPr>
              <a:t>Elyra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3914" y="66842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" b="1" i="0" spc="80">
                <a:solidFill>
                  <a:srgbClr val="8893A3"/>
                </a:solidFill>
                <a:latin typeface="Segoe UI"/>
              </a:rPr>
              <a:t>Investor deck · 2026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85800" y="6437376"/>
            <a:ext cx="10820095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0225735" y="6519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8893A3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665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5331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2996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0662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5993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659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1324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4321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987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318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2649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315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7980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7665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35331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02996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70662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8328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05993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73659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41324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8990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76656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595360" y="-3108960"/>
            <a:ext cx="7132320" cy="7132320"/>
          </a:xfrm>
          <a:prstGeom prst="ellipse">
            <a:avLst/>
          </a:prstGeom>
          <a:solidFill>
            <a:srgbClr val="FF6F8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3291840" y="2194560"/>
            <a:ext cx="6766560" cy="6766560"/>
          </a:xfrm>
          <a:prstGeom prst="ellipse">
            <a:avLst/>
          </a:prstGeom>
          <a:solidFill>
            <a:srgbClr val="43E2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692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FF6F8E"/>
                </a:solidFill>
                <a:latin typeface="Segoe UI"/>
              </a:rPr>
              <a:t>06 · DIFFERENTIATION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877824"/>
            <a:ext cx="1082009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1">
                <a:solidFill>
                  <a:srgbClr val="FBF7EF"/>
                </a:solidFill>
                <a:latin typeface="Georgia"/>
              </a:rPr>
              <a:t>Why we win — not copyable
in a quarter.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331720"/>
            <a:ext cx="8778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8D0DA"/>
                </a:solidFill>
                <a:latin typeface="Segoe UI"/>
              </a:rPr>
              <a:t>Trust is a system, not a feature. Replicating dual identity + AI safety + Safe Date + audit infrastructure is a 12–18 month rebuild — and it cannibalizes incumbents' existing products.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108960"/>
            <a:ext cx="502920" cy="36576"/>
          </a:xfrm>
          <a:prstGeom prst="roundRect">
            <a:avLst>
              <a:gd name="adj" fmla="val 50000"/>
            </a:avLst>
          </a:prstGeom>
          <a:solidFill>
            <a:srgbClr val="FF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80160" y="3121761"/>
            <a:ext cx="2194560" cy="10972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3310128"/>
            <a:ext cx="2331720" cy="420624"/>
          </a:xfrm>
          <a:prstGeom prst="roundRect">
            <a:avLst>
              <a:gd name="adj" fmla="val 30000"/>
            </a:avLst>
          </a:prstGeom>
          <a:solidFill>
            <a:srgbClr val="161F31">
              <a:alpha val="88000"/>
            </a:srgbClr>
          </a:solidFill>
          <a:ln w="6350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3310128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FFC56E"/>
                </a:solidFill>
                <a:latin typeface="Segoe UI"/>
              </a:rPr>
              <a:t>VECTOR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0" y="3310128"/>
            <a:ext cx="2331720" cy="420624"/>
          </a:xfrm>
          <a:prstGeom prst="roundRect">
            <a:avLst>
              <a:gd name="adj" fmla="val 30000"/>
            </a:avLst>
          </a:prstGeom>
          <a:solidFill>
            <a:srgbClr val="161F31">
              <a:alpha val="88000"/>
            </a:srgbClr>
          </a:solidFill>
          <a:ln w="6350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3310128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FFC56E"/>
                </a:solidFill>
                <a:latin typeface="Segoe UI"/>
              </a:rPr>
              <a:t>SWIPE APPS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49240" y="3310128"/>
            <a:ext cx="2606040" cy="420624"/>
          </a:xfrm>
          <a:prstGeom prst="roundRect">
            <a:avLst>
              <a:gd name="adj" fmla="val 30000"/>
            </a:avLst>
          </a:prstGeom>
          <a:solidFill>
            <a:srgbClr val="161F31">
              <a:alpha val="88000"/>
            </a:srgbClr>
          </a:solidFill>
          <a:ln w="6350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23560" y="3310128"/>
            <a:ext cx="2057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FFC56E"/>
                </a:solidFill>
                <a:latin typeface="Segoe UI"/>
              </a:rPr>
              <a:t>NICHE QUEER APPS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3310128"/>
            <a:ext cx="3547872" cy="420624"/>
          </a:xfrm>
          <a:prstGeom prst="roundRect">
            <a:avLst>
              <a:gd name="adj" fmla="val 30000"/>
            </a:avLst>
          </a:prstGeom>
          <a:solidFill>
            <a:srgbClr val="FFC56E">
              <a:alpha val="100000"/>
            </a:srgbClr>
          </a:solidFill>
          <a:ln w="6350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3310128"/>
            <a:ext cx="29992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161008"/>
                </a:solidFill>
                <a:latin typeface="Segoe UI"/>
              </a:rPr>
              <a:t>ELYRA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3776472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377647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Public-by-default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17520" y="3776472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0" y="377647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Yes (assumed)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49240" y="3776472"/>
            <a:ext cx="260604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23560" y="377647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Yes (mostly)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55280" y="3776472"/>
            <a:ext cx="3547872" cy="365760"/>
          </a:xfrm>
          <a:prstGeom prst="roundRect">
            <a:avLst>
              <a:gd name="adj" fmla="val 25000"/>
            </a:avLst>
          </a:prstGeom>
          <a:solidFill>
            <a:srgbClr val="1C273D">
              <a:alpha val="92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19872" y="3895344"/>
            <a:ext cx="128016" cy="128016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9328" y="3776472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C56E"/>
                </a:solidFill>
                <a:latin typeface="Segoe UI"/>
              </a:rPr>
              <a:t>No — Pehchaan Layer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4187952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" y="418795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AI moderation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17520" y="4187952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0" y="418795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Off-screen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49240" y="4187952"/>
            <a:ext cx="260604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23560" y="418795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Light / none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955280" y="4187952"/>
            <a:ext cx="3547872" cy="365760"/>
          </a:xfrm>
          <a:prstGeom prst="roundRect">
            <a:avLst>
              <a:gd name="adj" fmla="val 25000"/>
            </a:avLst>
          </a:prstGeom>
          <a:solidFill>
            <a:srgbClr val="1C273D">
              <a:alpha val="92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119872" y="4306824"/>
            <a:ext cx="128016" cy="128016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39328" y="4187952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C56E"/>
                </a:solidFill>
                <a:latin typeface="Segoe UI"/>
              </a:rPr>
              <a:t>Visible &amp; reversible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800" y="4599432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0120" y="459943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Offline safety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017520" y="4599432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1840" y="459943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Buried in help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49240" y="4599432"/>
            <a:ext cx="260604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23560" y="459943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Absent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55280" y="4599432"/>
            <a:ext cx="3547872" cy="365760"/>
          </a:xfrm>
          <a:prstGeom prst="roundRect">
            <a:avLst>
              <a:gd name="adj" fmla="val 25000"/>
            </a:avLst>
          </a:prstGeom>
          <a:solidFill>
            <a:srgbClr val="1C273D">
              <a:alpha val="92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19872" y="4718304"/>
            <a:ext cx="128016" cy="128016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39328" y="4599432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C56E"/>
                </a:solidFill>
                <a:latin typeface="Segoe UI"/>
              </a:rPr>
              <a:t>Safe Date — core flow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5800" y="5010912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0120" y="50109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Identity model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017520" y="5010912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91840" y="50109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Single profile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349240" y="5010912"/>
            <a:ext cx="260604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23560" y="501091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Single profile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955280" y="5010912"/>
            <a:ext cx="3547872" cy="365760"/>
          </a:xfrm>
          <a:prstGeom prst="roundRect">
            <a:avLst>
              <a:gd name="adj" fmla="val 25000"/>
            </a:avLst>
          </a:prstGeom>
          <a:solidFill>
            <a:srgbClr val="1C273D">
              <a:alpha val="92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119872" y="5129784"/>
            <a:ext cx="128016" cy="128016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39328" y="5010912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C56E"/>
                </a:solidFill>
                <a:latin typeface="Segoe UI"/>
              </a:rPr>
              <a:t>Dual, encrypted, audited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85800" y="5422392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0120" y="542239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Matching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017520" y="5422392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91840" y="542239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Swipe queue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49240" y="5422392"/>
            <a:ext cx="260604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23560" y="542239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Swipe queue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955280" y="5422392"/>
            <a:ext cx="3547872" cy="365760"/>
          </a:xfrm>
          <a:prstGeom prst="roundRect">
            <a:avLst>
              <a:gd name="adj" fmla="val 25000"/>
            </a:avLst>
          </a:prstGeom>
          <a:solidFill>
            <a:srgbClr val="1C273D">
              <a:alpha val="92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119872" y="5541264"/>
            <a:ext cx="128016" cy="128016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39328" y="5422392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C56E"/>
                </a:solidFill>
                <a:latin typeface="Segoe UI"/>
              </a:rPr>
              <a:t>No-swipe, intent-first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85800" y="5833872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0120" y="583387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India queer fit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017520" y="5833872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91840" y="583387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Generic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349240" y="5833872"/>
            <a:ext cx="2606040" cy="365760"/>
          </a:xfrm>
          <a:prstGeom prst="roundRect">
            <a:avLst>
              <a:gd name="adj" fmla="val 25000"/>
            </a:avLst>
          </a:prstGeom>
          <a:solidFill>
            <a:srgbClr val="101725">
              <a:alpha val="80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23560" y="583387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Imported UX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955280" y="5833872"/>
            <a:ext cx="3547872" cy="365760"/>
          </a:xfrm>
          <a:prstGeom prst="roundRect">
            <a:avLst>
              <a:gd name="adj" fmla="val 25000"/>
            </a:avLst>
          </a:prstGeom>
          <a:solidFill>
            <a:srgbClr val="1C273D">
              <a:alpha val="92000"/>
            </a:srgbClr>
          </a:solidFill>
          <a:ln w="5080">
            <a:solidFill>
              <a:srgbClr val="222C40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119872" y="5952744"/>
            <a:ext cx="128016" cy="128016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39328" y="5833872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C56E"/>
                </a:solidFill>
                <a:latin typeface="Segoe UI"/>
              </a:rPr>
              <a:t>India-first, vernacular</a:t>
            </a:r>
          </a:p>
        </p:txBody>
      </p:sp>
      <p:sp>
        <p:nvSpPr>
          <p:cNvPr id="102" name="Oval 101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6F8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85800" y="6446520"/>
            <a:ext cx="311810" cy="3118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61008"/>
                </a:solidFill>
                <a:latin typeface="Georgia"/>
              </a:rPr>
              <a:t>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43914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BF7EF"/>
                </a:solidFill>
                <a:latin typeface="Segoe UI"/>
              </a:rPr>
              <a:t>Elyra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43914" y="66842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" b="1" i="0" spc="80">
                <a:solidFill>
                  <a:srgbClr val="8893A3"/>
                </a:solidFill>
                <a:latin typeface="Segoe UI"/>
              </a:rPr>
              <a:t>Investor deck · 2026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685800" y="6437376"/>
            <a:ext cx="10820095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225735" y="6519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8893A3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665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5331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2996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0662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5993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659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1324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4321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987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318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2649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315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7980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7665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35331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02996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70662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8328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05993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73659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41324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8990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76656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-3291840" y="2194560"/>
            <a:ext cx="6766560" cy="6766560"/>
          </a:xfrm>
          <a:prstGeom prst="ellipse">
            <a:avLst/>
          </a:prstGeom>
          <a:solidFill>
            <a:srgbClr val="43E2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0" y="4206240"/>
            <a:ext cx="6035040" cy="6035040"/>
          </a:xfrm>
          <a:prstGeom prst="ellipse">
            <a:avLst/>
          </a:prstGeom>
          <a:solidFill>
            <a:srgbClr val="FFC56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-1463040" y="4389120"/>
            <a:ext cx="5120640" cy="5120640"/>
          </a:xfrm>
          <a:prstGeom prst="ellipse">
            <a:avLst/>
          </a:prstGeom>
          <a:solidFill>
            <a:srgbClr val="9384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6692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FFC56E"/>
                </a:solidFill>
                <a:latin typeface="Segoe UI"/>
              </a:rPr>
              <a:t>07 · MARKET OPPORTUNITY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877824"/>
            <a:ext cx="1082009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1">
                <a:solidFill>
                  <a:srgbClr val="FBF7EF"/>
                </a:solidFill>
                <a:latin typeface="Georgia"/>
              </a:rPr>
              <a:t>India today.
The world tomorrow.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331720"/>
            <a:ext cx="8778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8D0DA"/>
                </a:solidFill>
                <a:latin typeface="Segoe UI"/>
              </a:rPr>
              <a:t>Start where identity-sensitive connection has acute need; expand into every market where trust is a differentiating product moat.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108960"/>
            <a:ext cx="502920" cy="36576"/>
          </a:xfrm>
          <a:prstGeom prst="roundRect">
            <a:avLst>
              <a:gd name="adj" fmla="val 50000"/>
            </a:avLst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280160" y="3121761"/>
            <a:ext cx="2194560" cy="10972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" y="3310128"/>
            <a:ext cx="1920240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740664" y="3328416"/>
            <a:ext cx="1810512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41832" y="3813048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FBF7EF"/>
                </a:solidFill>
                <a:latin typeface="Georgia"/>
              </a:rPr>
              <a:t>$2.5B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832" y="5093208"/>
            <a:ext cx="914400" cy="45720"/>
          </a:xfrm>
          <a:prstGeom prst="roundRect">
            <a:avLst>
              <a:gd name="adj" fmla="val 50000"/>
            </a:avLst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" y="5276088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India dating TAM by 2028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34056" y="3310128"/>
            <a:ext cx="1920240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788920" y="3328416"/>
            <a:ext cx="1810512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90088" y="3813048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FBF7EF"/>
                </a:solidFill>
                <a:latin typeface="Georgia"/>
              </a:rPr>
              <a:t>2.5M+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90088" y="5093208"/>
            <a:ext cx="914400" cy="45720"/>
          </a:xfrm>
          <a:prstGeom prst="roundRect">
            <a:avLst>
              <a:gd name="adj" fmla="val 50000"/>
            </a:avLst>
          </a:prstGeom>
          <a:solidFill>
            <a:srgbClr val="FF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0088" y="5276088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LGBTQIA+ digital natives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82312" y="3310128"/>
            <a:ext cx="1920240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4837176" y="3328416"/>
            <a:ext cx="1810512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038344" y="3813048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FBF7EF"/>
                </a:solidFill>
                <a:latin typeface="Georgia"/>
              </a:rPr>
              <a:t>6×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38344" y="5093208"/>
            <a:ext cx="914400" cy="45720"/>
          </a:xfrm>
          <a:prstGeom prst="roundRect">
            <a:avLst>
              <a:gd name="adj" fmla="val 50000"/>
            </a:avLst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38344" y="5276088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privacy-paid willingness-to-pay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22008" y="3310128"/>
            <a:ext cx="4583887" cy="2834640"/>
          </a:xfrm>
          <a:prstGeom prst="roundRect">
            <a:avLst>
              <a:gd name="adj" fmla="val 6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6976872" y="3328416"/>
            <a:ext cx="4474159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251192" y="35844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40">
                <a:solidFill>
                  <a:srgbClr val="43E2D0"/>
                </a:solidFill>
                <a:latin typeface="Segoe UI"/>
              </a:rPr>
              <a:t>EXPANSION THESIS</a:t>
            </a:r>
          </a:p>
        </p:txBody>
      </p:sp>
      <p:sp>
        <p:nvSpPr>
          <p:cNvPr id="59" name="Oval 58"/>
          <p:cNvSpPr/>
          <p:nvPr/>
        </p:nvSpPr>
        <p:spPr>
          <a:xfrm>
            <a:off x="7251192" y="4261104"/>
            <a:ext cx="164592" cy="164592"/>
          </a:xfrm>
          <a:prstGeom prst="ellipse">
            <a:avLst/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80376" y="4096512"/>
            <a:ext cx="3669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BF7EF"/>
                </a:solidFill>
                <a:latin typeface="Segoe UI"/>
              </a:rPr>
              <a:t>Phase 1 ·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0376" y="4370832"/>
            <a:ext cx="36694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India web + mobile launch</a:t>
            </a:r>
          </a:p>
        </p:txBody>
      </p:sp>
      <p:sp>
        <p:nvSpPr>
          <p:cNvPr id="62" name="Oval 61"/>
          <p:cNvSpPr/>
          <p:nvPr/>
        </p:nvSpPr>
        <p:spPr>
          <a:xfrm>
            <a:off x="7251192" y="4937760"/>
            <a:ext cx="164592" cy="164592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80376" y="4773168"/>
            <a:ext cx="3669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BF7EF"/>
                </a:solidFill>
                <a:latin typeface="Segoe UI"/>
              </a:rPr>
              <a:t>Phase 2 · 2027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0376" y="5047488"/>
            <a:ext cx="36694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SEA + MENA · privacy as survival feature</a:t>
            </a:r>
          </a:p>
        </p:txBody>
      </p:sp>
      <p:sp>
        <p:nvSpPr>
          <p:cNvPr id="65" name="Oval 64"/>
          <p:cNvSpPr/>
          <p:nvPr/>
        </p:nvSpPr>
        <p:spPr>
          <a:xfrm>
            <a:off x="7251192" y="5614416"/>
            <a:ext cx="164592" cy="164592"/>
          </a:xfrm>
          <a:prstGeom prst="ellipse">
            <a:avLst/>
          </a:prstGeom>
          <a:solidFill>
            <a:srgbClr val="FF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80376" y="5449824"/>
            <a:ext cx="3669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BF7EF"/>
                </a:solidFill>
                <a:latin typeface="Segoe UI"/>
              </a:rPr>
              <a:t>Phase 3 · 2028+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0376" y="5724144"/>
            <a:ext cx="36694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EU + LATAM · privacy as regulated standard</a:t>
            </a:r>
          </a:p>
        </p:txBody>
      </p:sp>
      <p:sp>
        <p:nvSpPr>
          <p:cNvPr id="68" name="Oval 67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6F8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" y="6446520"/>
            <a:ext cx="311810" cy="3118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61008"/>
                </a:solidFill>
                <a:latin typeface="Georgia"/>
              </a:rPr>
              <a:t>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3914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BF7EF"/>
                </a:solidFill>
                <a:latin typeface="Segoe UI"/>
              </a:rPr>
              <a:t>Elyra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914" y="66842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" b="1" i="0" spc="80">
                <a:solidFill>
                  <a:srgbClr val="8893A3"/>
                </a:solidFill>
                <a:latin typeface="Segoe UI"/>
              </a:rPr>
              <a:t>Investor deck · 2026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85800" y="6437376"/>
            <a:ext cx="10820095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225735" y="6519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8893A3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665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5331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2996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0662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5993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659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1324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4321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987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318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2649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315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7980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7665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35331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02996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70662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8328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05993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73659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41324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8990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76656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15200" y="4206240"/>
            <a:ext cx="6035040" cy="6035040"/>
          </a:xfrm>
          <a:prstGeom prst="ellipse">
            <a:avLst/>
          </a:prstGeom>
          <a:solidFill>
            <a:srgbClr val="FFC56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0" y="-3108960"/>
            <a:ext cx="7132320" cy="7132320"/>
          </a:xfrm>
          <a:prstGeom prst="ellipse">
            <a:avLst/>
          </a:prstGeom>
          <a:solidFill>
            <a:srgbClr val="FF6F8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692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FFC56E"/>
                </a:solidFill>
                <a:latin typeface="Segoe UI"/>
              </a:rPr>
              <a:t>08 · BUSINESS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877824"/>
            <a:ext cx="1082009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1">
                <a:solidFill>
                  <a:srgbClr val="FBF7EF"/>
                </a:solidFill>
                <a:latin typeface="Georgia"/>
              </a:rPr>
              <a:t>Privacy creates a premium
willingness-to-pay loop.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331720"/>
            <a:ext cx="8778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8D0DA"/>
                </a:solidFill>
                <a:latin typeface="Segoe UI"/>
              </a:rPr>
              <a:t>Free for adoption. Paid for power. We charge for boost, incognito, filters, and AI starters — never for safety.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108960"/>
            <a:ext cx="502920" cy="36576"/>
          </a:xfrm>
          <a:prstGeom prst="roundRect">
            <a:avLst>
              <a:gd name="adj" fmla="val 50000"/>
            </a:avLst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80160" y="3121761"/>
            <a:ext cx="2194560" cy="10972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3310128"/>
            <a:ext cx="2596896" cy="2788920"/>
          </a:xfrm>
          <a:prstGeom prst="roundRect">
            <a:avLst>
              <a:gd name="adj" fmla="val 10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40664" y="3328416"/>
            <a:ext cx="2487168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14984" y="3602736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FFC56E"/>
                </a:solidFill>
                <a:latin typeface="Segoe UI"/>
              </a:rPr>
              <a:t>FREE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" y="3913632"/>
            <a:ext cx="2048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C56E"/>
                </a:solidFill>
                <a:latin typeface="Segoe UI"/>
              </a:rPr>
              <a:t>Free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" y="4261104"/>
            <a:ext cx="20482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1">
                <a:solidFill>
                  <a:srgbClr val="FBF7EF"/>
                </a:solidFill>
                <a:latin typeface="Georgia"/>
              </a:rPr>
              <a:t>₹0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14984" y="5138928"/>
            <a:ext cx="1938528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14984" y="5349240"/>
            <a:ext cx="64008" cy="64008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5257800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Basic intent match</a:t>
            </a:r>
          </a:p>
        </p:txBody>
      </p:sp>
      <p:sp>
        <p:nvSpPr>
          <p:cNvPr id="48" name="Oval 47"/>
          <p:cNvSpPr/>
          <p:nvPr/>
        </p:nvSpPr>
        <p:spPr>
          <a:xfrm>
            <a:off x="1014984" y="5596128"/>
            <a:ext cx="64008" cy="64008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8720" y="5504688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5 likes / day</a:t>
            </a:r>
          </a:p>
        </p:txBody>
      </p:sp>
      <p:sp>
        <p:nvSpPr>
          <p:cNvPr id="50" name="Oval 49"/>
          <p:cNvSpPr/>
          <p:nvPr/>
        </p:nvSpPr>
        <p:spPr>
          <a:xfrm>
            <a:off x="1014984" y="5843016"/>
            <a:ext cx="64008" cy="64008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8720" y="5751576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Trust score visible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10128" y="3218688"/>
            <a:ext cx="2779776" cy="2971800"/>
          </a:xfrm>
          <a:prstGeom prst="roundRect">
            <a:avLst>
              <a:gd name="adj" fmla="val 10000"/>
            </a:avLst>
          </a:prstGeom>
          <a:solidFill>
            <a:srgbClr val="FFC56E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401568" y="3310128"/>
            <a:ext cx="2596896" cy="2788920"/>
          </a:xfrm>
          <a:prstGeom prst="roundRect">
            <a:avLst>
              <a:gd name="adj" fmla="val 10000"/>
            </a:avLst>
          </a:prstGeom>
          <a:solidFill>
            <a:srgbClr val="FFC56E">
              <a:alpha val="100000"/>
            </a:srgbClr>
          </a:solidFill>
          <a:ln w="12700">
            <a:solidFill>
              <a:srgbClr val="FFC56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30752" y="3602736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161008"/>
                </a:solidFill>
                <a:latin typeface="Segoe UI"/>
              </a:rPr>
              <a:t>MOST POPULAR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30752" y="3913632"/>
            <a:ext cx="2048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1008"/>
                </a:solidFill>
                <a:latin typeface="Segoe UI"/>
              </a:rPr>
              <a:t>Plus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30752" y="4261104"/>
            <a:ext cx="20482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1">
                <a:solidFill>
                  <a:srgbClr val="161008"/>
                </a:solidFill>
                <a:latin typeface="Georgia"/>
              </a:rPr>
              <a:t>₹499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730752" y="5138928"/>
            <a:ext cx="1938528" cy="0"/>
          </a:xfrm>
          <a:prstGeom prst="line">
            <a:avLst/>
          </a:prstGeom>
          <a:ln w="6350">
            <a:solidFill>
              <a:srgbClr val="161008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3730752" y="5349240"/>
            <a:ext cx="64008" cy="64008"/>
          </a:xfrm>
          <a:prstGeom prst="ellipse">
            <a:avLst/>
          </a:prstGeom>
          <a:solidFill>
            <a:srgbClr val="161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04488" y="5257800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61008"/>
                </a:solidFill>
                <a:latin typeface="Segoe UI"/>
              </a:rPr>
              <a:t>Unlimited likes</a:t>
            </a:r>
          </a:p>
        </p:txBody>
      </p:sp>
      <p:sp>
        <p:nvSpPr>
          <p:cNvPr id="60" name="Oval 59"/>
          <p:cNvSpPr/>
          <p:nvPr/>
        </p:nvSpPr>
        <p:spPr>
          <a:xfrm>
            <a:off x="3730752" y="5596128"/>
            <a:ext cx="64008" cy="64008"/>
          </a:xfrm>
          <a:prstGeom prst="ellipse">
            <a:avLst/>
          </a:prstGeom>
          <a:solidFill>
            <a:srgbClr val="161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04488" y="5504688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61008"/>
                </a:solidFill>
                <a:latin typeface="Segoe UI"/>
              </a:rPr>
              <a:t>See who liked you</a:t>
            </a:r>
          </a:p>
        </p:txBody>
      </p:sp>
      <p:sp>
        <p:nvSpPr>
          <p:cNvPr id="62" name="Oval 61"/>
          <p:cNvSpPr/>
          <p:nvPr/>
        </p:nvSpPr>
        <p:spPr>
          <a:xfrm>
            <a:off x="3730752" y="5843016"/>
            <a:ext cx="64008" cy="64008"/>
          </a:xfrm>
          <a:prstGeom prst="ellipse">
            <a:avLst/>
          </a:prstGeom>
          <a:solidFill>
            <a:srgbClr val="161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5751576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61008"/>
                </a:solidFill>
                <a:latin typeface="Segoe UI"/>
              </a:rPr>
              <a:t>No ads · priority mod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17336" y="3310128"/>
            <a:ext cx="2596896" cy="2788920"/>
          </a:xfrm>
          <a:prstGeom prst="roundRect">
            <a:avLst>
              <a:gd name="adj" fmla="val 10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6172200" y="3328416"/>
            <a:ext cx="2487168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446520" y="3602736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FFC56E"/>
                </a:solidFill>
                <a:latin typeface="Segoe UI"/>
              </a:rPr>
              <a:t>PREMIUM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3913632"/>
            <a:ext cx="2048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C56E"/>
                </a:solidFill>
                <a:latin typeface="Segoe UI"/>
              </a:rPr>
              <a:t>Premium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6520" y="4261104"/>
            <a:ext cx="20482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1">
                <a:solidFill>
                  <a:srgbClr val="FBF7EF"/>
                </a:solidFill>
                <a:latin typeface="Georgia"/>
              </a:rPr>
              <a:t>₹999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446520" y="5138928"/>
            <a:ext cx="1938528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6446520" y="5349240"/>
            <a:ext cx="64008" cy="64008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20256" y="5257800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Advanced filters</a:t>
            </a:r>
          </a:p>
        </p:txBody>
      </p:sp>
      <p:sp>
        <p:nvSpPr>
          <p:cNvPr id="72" name="Oval 71"/>
          <p:cNvSpPr/>
          <p:nvPr/>
        </p:nvSpPr>
        <p:spPr>
          <a:xfrm>
            <a:off x="6446520" y="5596128"/>
            <a:ext cx="64008" cy="64008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20256" y="5504688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Priority matching</a:t>
            </a:r>
          </a:p>
        </p:txBody>
      </p:sp>
      <p:sp>
        <p:nvSpPr>
          <p:cNvPr id="74" name="Oval 73"/>
          <p:cNvSpPr/>
          <p:nvPr/>
        </p:nvSpPr>
        <p:spPr>
          <a:xfrm>
            <a:off x="6446520" y="5843016"/>
            <a:ext cx="64008" cy="64008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20256" y="5751576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LLM conversation starters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33104" y="3310128"/>
            <a:ext cx="2596896" cy="2788920"/>
          </a:xfrm>
          <a:prstGeom prst="roundRect">
            <a:avLst>
              <a:gd name="adj" fmla="val 10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8887968" y="3328416"/>
            <a:ext cx="2487168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162288" y="3602736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FFC56E"/>
                </a:solidFill>
                <a:latin typeface="Segoe UI"/>
              </a:rPr>
              <a:t>ELITE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62288" y="3913632"/>
            <a:ext cx="2048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C56E"/>
                </a:solidFill>
                <a:latin typeface="Segoe UI"/>
              </a:rPr>
              <a:t>Elite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62288" y="4261104"/>
            <a:ext cx="20482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1">
                <a:solidFill>
                  <a:srgbClr val="FBF7EF"/>
                </a:solidFill>
                <a:latin typeface="Georgia"/>
              </a:rPr>
              <a:t>₹1999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162288" y="5138928"/>
            <a:ext cx="1938528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9162288" y="5349240"/>
            <a:ext cx="64008" cy="64008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36024" y="5257800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Profile boost</a:t>
            </a:r>
          </a:p>
        </p:txBody>
      </p:sp>
      <p:sp>
        <p:nvSpPr>
          <p:cNvPr id="84" name="Oval 83"/>
          <p:cNvSpPr/>
          <p:nvPr/>
        </p:nvSpPr>
        <p:spPr>
          <a:xfrm>
            <a:off x="9162288" y="5596128"/>
            <a:ext cx="64008" cy="64008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36024" y="5504688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Incognito mode</a:t>
            </a:r>
          </a:p>
        </p:txBody>
      </p:sp>
      <p:sp>
        <p:nvSpPr>
          <p:cNvPr id="86" name="Oval 85"/>
          <p:cNvSpPr/>
          <p:nvPr/>
        </p:nvSpPr>
        <p:spPr>
          <a:xfrm>
            <a:off x="9162288" y="5843016"/>
            <a:ext cx="64008" cy="64008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336024" y="5751576"/>
            <a:ext cx="1819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Priority human support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6199632"/>
            <a:ext cx="108200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893A3"/>
                </a:solidFill>
                <a:latin typeface="Segoe UI"/>
              </a:rPr>
              <a:t>TARGET ARPU ₹600 / MO   ·   6–8% PAYING CONVERSION   ·   CAC PAYBACK ≤ 4 MONTHS   ·   ANNUAL SAVE 17%</a:t>
            </a:r>
          </a:p>
        </p:txBody>
      </p:sp>
      <p:sp>
        <p:nvSpPr>
          <p:cNvPr id="89" name="Oval 88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6F8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5800" y="6446520"/>
            <a:ext cx="311810" cy="3118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61008"/>
                </a:solidFill>
                <a:latin typeface="Georgia"/>
              </a:rPr>
              <a:t>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43914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BF7EF"/>
                </a:solidFill>
                <a:latin typeface="Segoe UI"/>
              </a:rPr>
              <a:t>Elyra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43914" y="66842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" b="1" i="0" spc="80">
                <a:solidFill>
                  <a:srgbClr val="8893A3"/>
                </a:solidFill>
                <a:latin typeface="Segoe UI"/>
              </a:rPr>
              <a:t>Investor deck · 2026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85800" y="6437376"/>
            <a:ext cx="10820095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0225735" y="6519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8893A3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665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5331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2996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0662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5993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659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1324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4321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987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318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2649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315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7980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7665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35331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02996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70662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8328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05993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73659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41324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8990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76656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-3291840" y="2194560"/>
            <a:ext cx="6766560" cy="6766560"/>
          </a:xfrm>
          <a:prstGeom prst="ellipse">
            <a:avLst/>
          </a:prstGeom>
          <a:solidFill>
            <a:srgbClr val="43E2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0" y="-3108960"/>
            <a:ext cx="7132320" cy="7132320"/>
          </a:xfrm>
          <a:prstGeom prst="ellipse">
            <a:avLst/>
          </a:prstGeom>
          <a:solidFill>
            <a:srgbClr val="FF6F8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692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43E2D0"/>
                </a:solidFill>
                <a:latin typeface="Segoe UI"/>
              </a:rPr>
              <a:t>09 · GO-TO-MARKET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877824"/>
            <a:ext cx="1082009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1">
                <a:solidFill>
                  <a:srgbClr val="FBF7EF"/>
                </a:solidFill>
                <a:latin typeface="Georgia"/>
              </a:rPr>
              <a:t>Land community-first.
Convert through trust.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331720"/>
            <a:ext cx="8778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8D0DA"/>
                </a:solidFill>
                <a:latin typeface="Segoe UI"/>
              </a:rPr>
              <a:t>Earned reach &gt; paid reach in identity-sensitive communities. Our trust mechanics double as a self-credentialing growth loop.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108960"/>
            <a:ext cx="502920" cy="36576"/>
          </a:xfrm>
          <a:prstGeom prst="roundRect">
            <a:avLst>
              <a:gd name="adj" fmla="val 50000"/>
            </a:avLst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80160" y="3121761"/>
            <a:ext cx="2194560" cy="10972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3310128"/>
            <a:ext cx="2090867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40664.0" y="3328416"/>
            <a:ext cx="1981139.0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14984" y="3602736"/>
            <a:ext cx="1432499" cy="292608"/>
          </a:xfrm>
          <a:prstGeom prst="roundRect">
            <a:avLst>
              <a:gd name="adj" fmla="val 50000"/>
            </a:avLst>
          </a:prstGeom>
          <a:solidFill>
            <a:srgbClr val="FF6F8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" y="3602736"/>
            <a:ext cx="14324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80">
                <a:solidFill>
                  <a:srgbClr val="FF6F8E"/>
                </a:solidFill>
                <a:latin typeface="Consolas"/>
              </a:rPr>
              <a:t>M0–M3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" y="4087368"/>
            <a:ext cx="14324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FBF7EF"/>
                </a:solidFill>
                <a:latin typeface="Georgia"/>
              </a:rPr>
              <a:t>Partnerships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14984.0" y="4681728"/>
            <a:ext cx="1432499.0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14984" y="4791456"/>
            <a:ext cx="14324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Queer creators, pride orgs, campus alliances · 8 metro &amp; tier-1 cities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781239.0" y="4727448.0"/>
            <a:ext cx="82296.0" cy="0.0"/>
          </a:xfrm>
          <a:prstGeom prst="line">
            <a:avLst/>
          </a:prstGeom>
          <a:ln w="9525">
            <a:solidFill>
              <a:srgbClr val="465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868107" y="3310128"/>
            <a:ext cx="2090867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922971.0" y="3328416"/>
            <a:ext cx="1981139.0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197291" y="3602736"/>
            <a:ext cx="1432499" cy="292608"/>
          </a:xfrm>
          <a:prstGeom prst="roundRect">
            <a:avLst>
              <a:gd name="adj" fmla="val 50000"/>
            </a:avLst>
          </a:prstGeom>
          <a:solidFill>
            <a:srgbClr val="FFC56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97291" y="3602736"/>
            <a:ext cx="14324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80">
                <a:solidFill>
                  <a:srgbClr val="FFC56E"/>
                </a:solidFill>
                <a:latin typeface="Consolas"/>
              </a:rPr>
              <a:t>M3–M6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97291" y="4087368"/>
            <a:ext cx="14324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FBF7EF"/>
                </a:solidFill>
                <a:latin typeface="Georgia"/>
              </a:rPr>
              <a:t>Verified seed loop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197291.0" y="4681728"/>
            <a:ext cx="1432499.0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197291" y="4791456"/>
            <a:ext cx="14324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Verified invites raise composite trust score · gamified, privacy-first growth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963546.0" y="4727448.0"/>
            <a:ext cx="82296.0" cy="0.0"/>
          </a:xfrm>
          <a:prstGeom prst="line">
            <a:avLst/>
          </a:prstGeom>
          <a:ln w="9525">
            <a:solidFill>
              <a:srgbClr val="465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050414" y="3310128"/>
            <a:ext cx="2090867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5105278.0" y="3328416"/>
            <a:ext cx="1981139.0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5379598" y="3602736"/>
            <a:ext cx="1432499" cy="292608"/>
          </a:xfrm>
          <a:prstGeom prst="roundRect">
            <a:avLst>
              <a:gd name="adj" fmla="val 50000"/>
            </a:avLst>
          </a:prstGeom>
          <a:solidFill>
            <a:srgbClr val="43E2D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79598" y="3602736"/>
            <a:ext cx="14324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80">
                <a:solidFill>
                  <a:srgbClr val="43E2D0"/>
                </a:solidFill>
                <a:latin typeface="Consolas"/>
              </a:rPr>
              <a:t>M6–M9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79598" y="4087368"/>
            <a:ext cx="14324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FBF7EF"/>
                </a:solidFill>
                <a:latin typeface="Georgia"/>
              </a:rPr>
              <a:t>Vernacular content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379598.0" y="4681728"/>
            <a:ext cx="1432499.0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379598" y="4791456"/>
            <a:ext cx="14324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Hindi · Tamil · Bengali content on consent, safe meeting, identity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145853.0" y="4727448.0"/>
            <a:ext cx="82296.0" cy="0.0"/>
          </a:xfrm>
          <a:prstGeom prst="line">
            <a:avLst/>
          </a:prstGeom>
          <a:ln w="9525">
            <a:solidFill>
              <a:srgbClr val="465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232721" y="3310128"/>
            <a:ext cx="2090867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7287585.0" y="3328416"/>
            <a:ext cx="1981139.0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7561905" y="3602736"/>
            <a:ext cx="1432499" cy="292608"/>
          </a:xfrm>
          <a:prstGeom prst="roundRect">
            <a:avLst>
              <a:gd name="adj" fmla="val 50000"/>
            </a:avLst>
          </a:prstGeom>
          <a:solidFill>
            <a:srgbClr val="938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61905" y="3602736"/>
            <a:ext cx="14324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80">
                <a:solidFill>
                  <a:srgbClr val="9384FF"/>
                </a:solidFill>
                <a:latin typeface="Consolas"/>
              </a:rPr>
              <a:t>M9–M12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61905" y="4087368"/>
            <a:ext cx="14324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FBF7EF"/>
                </a:solidFill>
                <a:latin typeface="Georgia"/>
              </a:rPr>
              <a:t>Mobile + paid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561905.0" y="4681728"/>
            <a:ext cx="1432499.0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561905" y="4791456"/>
            <a:ext cx="14324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Expo mobile launch · privacy-led creative · Premium / Elite upsells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328160.0" y="4727448.0"/>
            <a:ext cx="82296.0" cy="0.0"/>
          </a:xfrm>
          <a:prstGeom prst="line">
            <a:avLst/>
          </a:prstGeom>
          <a:ln w="9525">
            <a:solidFill>
              <a:srgbClr val="465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9415028" y="3310128"/>
            <a:ext cx="2090867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9469892.0" y="3328416"/>
            <a:ext cx="1981139.0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9744212" y="3602736"/>
            <a:ext cx="1432499" cy="292608"/>
          </a:xfrm>
          <a:prstGeom prst="roundRect">
            <a:avLst>
              <a:gd name="adj" fmla="val 50000"/>
            </a:avLst>
          </a:prstGeom>
          <a:solidFill>
            <a:srgbClr val="6E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44212" y="3602736"/>
            <a:ext cx="14324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80">
                <a:solidFill>
                  <a:srgbClr val="6EA8FF"/>
                </a:solidFill>
                <a:latin typeface="Consolas"/>
              </a:rPr>
              <a:t>M12+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44212" y="4087368"/>
            <a:ext cx="14324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FBF7EF"/>
                </a:solidFill>
                <a:latin typeface="Georgia"/>
              </a:rPr>
              <a:t>B2B venues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744212.0" y="4681728"/>
            <a:ext cx="1432499.0" cy="0"/>
          </a:xfrm>
          <a:prstGeom prst="line">
            <a:avLst/>
          </a:prstGeom>
          <a:ln w="635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744212" y="4791456"/>
            <a:ext cx="14324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C8D0DA"/>
                </a:solidFill>
                <a:latin typeface="Segoe UI"/>
              </a:rPr>
              <a:t>Safe-Date-friendly cafes &amp; bars · network effect · earned discovery</a:t>
            </a:r>
          </a:p>
        </p:txBody>
      </p:sp>
      <p:sp>
        <p:nvSpPr>
          <p:cNvPr id="79" name="Oval 78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6F8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5800" y="6446520"/>
            <a:ext cx="311810" cy="3118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61008"/>
                </a:solidFill>
                <a:latin typeface="Georgia"/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43914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BF7EF"/>
                </a:solidFill>
                <a:latin typeface="Segoe UI"/>
              </a:rPr>
              <a:t>Elyra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3914" y="66842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" b="1" i="0" spc="80">
                <a:solidFill>
                  <a:srgbClr val="8893A3"/>
                </a:solidFill>
                <a:latin typeface="Segoe UI"/>
              </a:rPr>
              <a:t>Investor deck · 2026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85800" y="6437376"/>
            <a:ext cx="10820095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0225735" y="6519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8893A3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665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5331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2996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0662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5993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659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1324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4321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987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318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2649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315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7980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7665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35331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02996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70662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8328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05993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73659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41324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8990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76656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-1463040" y="4389120"/>
            <a:ext cx="5120640" cy="5120640"/>
          </a:xfrm>
          <a:prstGeom prst="ellipse">
            <a:avLst/>
          </a:prstGeom>
          <a:solidFill>
            <a:srgbClr val="9384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0" y="4206240"/>
            <a:ext cx="6035040" cy="6035040"/>
          </a:xfrm>
          <a:prstGeom prst="ellipse">
            <a:avLst/>
          </a:prstGeom>
          <a:solidFill>
            <a:srgbClr val="FFC56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692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9384FF"/>
                </a:solidFill>
                <a:latin typeface="Segoe UI"/>
              </a:rPr>
              <a:t>10 · VISION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877824"/>
            <a:ext cx="1082009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1">
                <a:solidFill>
                  <a:srgbClr val="FBF7EF"/>
                </a:solidFill>
                <a:latin typeface="Georgia"/>
              </a:rPr>
              <a:t>From queer dating in India
to the world's Trust 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331720"/>
            <a:ext cx="8778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8D0DA"/>
                </a:solidFill>
                <a:latin typeface="Segoe UI"/>
              </a:rPr>
              <a:t>The dating app is the wedge. The prize is being the trust infrastructure for every product where identity is sensitive.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108960"/>
            <a:ext cx="502920" cy="36576"/>
          </a:xfrm>
          <a:prstGeom prst="roundRect">
            <a:avLst>
              <a:gd name="adj" fmla="val 50000"/>
            </a:avLst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80160" y="3121761"/>
            <a:ext cx="2194560" cy="10972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3310128"/>
            <a:ext cx="2615869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40664.0" y="3328416"/>
            <a:ext cx="2506141.75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14984" y="362102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6F8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" y="362102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6F8E"/>
                </a:solidFill>
                <a:latin typeface="Consolas"/>
              </a:rPr>
              <a:t>Y1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" y="4096512"/>
            <a:ext cx="195750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1">
                <a:solidFill>
                  <a:srgbClr val="FBF7EF"/>
                </a:solidFill>
                <a:latin typeface="Georgia"/>
              </a:rPr>
              <a:t>India launch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" y="4791456"/>
            <a:ext cx="195750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Web + mobile. Pehchaan Layer becomes a household phrase in queer urban India.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4984" y="5870448"/>
            <a:ext cx="548640" cy="41148"/>
          </a:xfrm>
          <a:prstGeom prst="roundRect">
            <a:avLst>
              <a:gd name="adj" fmla="val 50000"/>
            </a:avLst>
          </a:prstGeom>
          <a:solidFill>
            <a:srgbClr val="FF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420541" y="3310128"/>
            <a:ext cx="2615869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3475405.75" y="3328416"/>
            <a:ext cx="2506141.75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749725" y="362102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C56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725" y="362102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C56E"/>
                </a:solidFill>
                <a:latin typeface="Consolas"/>
              </a:rPr>
              <a:t>Y2–3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725" y="4096512"/>
            <a:ext cx="195750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1">
                <a:solidFill>
                  <a:srgbClr val="FBF7EF"/>
                </a:solidFill>
                <a:latin typeface="Georgia"/>
              </a:rPr>
              <a:t>SEA &amp; MENA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725" y="4791456"/>
            <a:ext cx="195750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Dual identity becomes the standard for identity-sensitive markets globally.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49725" y="587044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55283" y="3310128"/>
            <a:ext cx="2615869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6210147.5" y="3328416"/>
            <a:ext cx="2506141.75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484467" y="362102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43E2D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84467" y="362102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3E2D0"/>
                </a:solidFill>
                <a:latin typeface="Consolas"/>
              </a:rPr>
              <a:t>Y3–5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84467" y="4096512"/>
            <a:ext cx="195750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1">
                <a:solidFill>
                  <a:srgbClr val="FBF7EF"/>
                </a:solidFill>
                <a:latin typeface="Georgia"/>
              </a:rPr>
              <a:t>Trust Layer platform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84467" y="4791456"/>
            <a:ext cx="195750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Pehchaan APIs power identity-sensitive flows in fintech, healthcare, hiring.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84467" y="5870448"/>
            <a:ext cx="1554480" cy="41148"/>
          </a:xfrm>
          <a:prstGeom prst="roundRect">
            <a:avLst>
              <a:gd name="adj" fmla="val 50000"/>
            </a:avLst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890025" y="3310128"/>
            <a:ext cx="2615869" cy="2834640"/>
          </a:xfrm>
          <a:prstGeom prst="roundRect">
            <a:avLst>
              <a:gd name="adj" fmla="val 8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8944889.25" y="3328416"/>
            <a:ext cx="2506141.75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9219209" y="362102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938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19209" y="362102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9384FF"/>
                </a:solidFill>
                <a:latin typeface="Consolas"/>
              </a:rPr>
              <a:t>Y5+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19209" y="4096512"/>
            <a:ext cx="195750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1">
                <a:solidFill>
                  <a:srgbClr val="FBF7EF"/>
                </a:solidFill>
                <a:latin typeface="Georgia"/>
              </a:rPr>
              <a:t>Global default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19209" y="4791456"/>
            <a:ext cx="195750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8D0DA"/>
                </a:solidFill>
                <a:latin typeface="Segoe UI"/>
              </a:rPr>
              <a:t>Elyra is to identity-safe connection what Stripe became to payments.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19209" y="5870448"/>
            <a:ext cx="2057400" cy="41148"/>
          </a:xfrm>
          <a:prstGeom prst="roundRect">
            <a:avLst>
              <a:gd name="adj" fmla="val 50000"/>
            </a:avLst>
          </a:prstGeom>
          <a:solidFill>
            <a:srgbClr val="93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6F8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" y="6446520"/>
            <a:ext cx="311810" cy="3118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61008"/>
                </a:solidFill>
                <a:latin typeface="Georgia"/>
              </a:rPr>
              <a:t>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3914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BF7EF"/>
                </a:solidFill>
                <a:latin typeface="Segoe UI"/>
              </a:rPr>
              <a:t>Elyra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914" y="66842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" b="1" i="0" spc="80">
                <a:solidFill>
                  <a:srgbClr val="8893A3"/>
                </a:solidFill>
                <a:latin typeface="Segoe UI"/>
              </a:rPr>
              <a:t>Investor deck · 2026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85800" y="6437376"/>
            <a:ext cx="10820095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225735" y="6519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8893A3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7665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5331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2996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0662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5993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659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1324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4321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987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3184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26496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3152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79808" y="0"/>
            <a:ext cx="0" cy="685800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7665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35331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202996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70662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8328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059936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736592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413248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89904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766560"/>
            <a:ext cx="12191695" cy="0"/>
          </a:xfrm>
          <a:prstGeom prst="line">
            <a:avLst/>
          </a:prstGeom>
          <a:ln w="5080">
            <a:solidFill>
              <a:srgbClr val="FFFFFF">
                <a:alpha val="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595360" y="-3108960"/>
            <a:ext cx="7132320" cy="7132320"/>
          </a:xfrm>
          <a:prstGeom prst="ellipse">
            <a:avLst/>
          </a:prstGeom>
          <a:solidFill>
            <a:srgbClr val="FF6F8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3291840" y="2194560"/>
            <a:ext cx="6766560" cy="6766560"/>
          </a:xfrm>
          <a:prstGeom prst="ellipse">
            <a:avLst/>
          </a:prstGeom>
          <a:solidFill>
            <a:srgbClr val="43E2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0" y="4206240"/>
            <a:ext cx="6035040" cy="6035040"/>
          </a:xfrm>
          <a:prstGeom prst="ellipse">
            <a:avLst/>
          </a:prstGeom>
          <a:solidFill>
            <a:srgbClr val="FFC56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6692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FFC56E"/>
                </a:solidFill>
                <a:latin typeface="Segoe UI"/>
              </a:rPr>
              <a:t>11 · THE 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877824"/>
            <a:ext cx="1082009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1">
                <a:solidFill>
                  <a:srgbClr val="FBF7EF"/>
                </a:solidFill>
                <a:latin typeface="Georgia"/>
              </a:rPr>
              <a:t>Trust is the next dating moat.
Elyra is building 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331720"/>
            <a:ext cx="8778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8D0DA"/>
                </a:solidFill>
                <a:latin typeface="Segoe UI"/>
              </a:rPr>
              <a:t>We're raising seed to launch India, build the AI safety stack, and ship mobile. Investors get a privacy-defensible platform aimed at an underserved, high-LTV community.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108960"/>
            <a:ext cx="502920" cy="36576"/>
          </a:xfrm>
          <a:prstGeom prst="roundRect">
            <a:avLst>
              <a:gd name="adj" fmla="val 50000"/>
            </a:avLst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280160" y="3121761"/>
            <a:ext cx="2194560" cy="10972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" y="3310128"/>
            <a:ext cx="5760720" cy="2834640"/>
          </a:xfrm>
          <a:prstGeom prst="roundRect">
            <a:avLst>
              <a:gd name="adj" fmla="val 6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740664" y="3328416"/>
            <a:ext cx="5650992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14984" y="360273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40">
                <a:solidFill>
                  <a:srgbClr val="FFC56E"/>
                </a:solidFill>
                <a:latin typeface="Segoe UI"/>
              </a:rPr>
              <a:t>USE OF FUNDS · 18 MONTHS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" y="402336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FF6F8E"/>
                </a:solidFill>
                <a:latin typeface="Georgia"/>
              </a:rPr>
              <a:t>40%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4005072"/>
            <a:ext cx="4133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BF7EF"/>
                </a:solidFill>
                <a:latin typeface="Segoe UI"/>
              </a:rPr>
              <a:t>Engineering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65960" y="4206240"/>
            <a:ext cx="4133088" cy="91440"/>
          </a:xfrm>
          <a:prstGeom prst="roundRect">
            <a:avLst>
              <a:gd name="adj" fmla="val 50000"/>
            </a:avLst>
          </a:prstGeom>
          <a:solidFill>
            <a:srgbClr val="1C27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965960" y="4206240"/>
            <a:ext cx="4133088" cy="91440"/>
          </a:xfrm>
          <a:prstGeom prst="roundRect">
            <a:avLst>
              <a:gd name="adj" fmla="val 50000"/>
            </a:avLst>
          </a:prstGeom>
          <a:solidFill>
            <a:srgbClr val="FF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65960" y="4315968"/>
            <a:ext cx="4133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93A3"/>
                </a:solidFill>
                <a:latin typeface="Segoe UI"/>
              </a:rPr>
              <a:t>Web v1, mobile v1, FastAPI · PG · Mongo · pgvector on K8s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" y="4407408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43E2D0"/>
                </a:solidFill>
                <a:latin typeface="Georgia"/>
              </a:rPr>
              <a:t>25%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65960" y="4389120"/>
            <a:ext cx="4133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BF7EF"/>
                </a:solidFill>
                <a:latin typeface="Segoe UI"/>
              </a:rPr>
              <a:t>AI safety stack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65960" y="4590288"/>
            <a:ext cx="4133088" cy="91440"/>
          </a:xfrm>
          <a:prstGeom prst="roundRect">
            <a:avLst>
              <a:gd name="adj" fmla="val 50000"/>
            </a:avLst>
          </a:prstGeom>
          <a:solidFill>
            <a:srgbClr val="1C27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965960" y="4590288"/>
            <a:ext cx="2583180" cy="91440"/>
          </a:xfrm>
          <a:prstGeom prst="roundRect">
            <a:avLst>
              <a:gd name="adj" fmla="val 50000"/>
            </a:avLst>
          </a:prstGeom>
          <a:solidFill>
            <a:srgbClr val="43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65960" y="4700016"/>
            <a:ext cx="4133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93A3"/>
                </a:solidFill>
                <a:latin typeface="Segoe UI"/>
              </a:rPr>
              <a:t>Toxicity, fake-profile, image mod, reasoning UX, review queue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" y="4791456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FFC56E"/>
                </a:solidFill>
                <a:latin typeface="Georgia"/>
              </a:rPr>
              <a:t>20%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5960" y="4773168"/>
            <a:ext cx="4133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BF7EF"/>
                </a:solidFill>
                <a:latin typeface="Segoe UI"/>
              </a:rPr>
              <a:t>GTM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65960" y="4974336"/>
            <a:ext cx="4133088" cy="91440"/>
          </a:xfrm>
          <a:prstGeom prst="roundRect">
            <a:avLst>
              <a:gd name="adj" fmla="val 50000"/>
            </a:avLst>
          </a:prstGeom>
          <a:solidFill>
            <a:srgbClr val="1C27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965960" y="4974336"/>
            <a:ext cx="2066544" cy="91440"/>
          </a:xfrm>
          <a:prstGeom prst="roundRect">
            <a:avLst>
              <a:gd name="adj" fmla="val 50000"/>
            </a:avLst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65960" y="5084064"/>
            <a:ext cx="4133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93A3"/>
                </a:solidFill>
                <a:latin typeface="Segoe UI"/>
              </a:rPr>
              <a:t>Creator partnerships, vernacular content, paid mobile launch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984" y="5175504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9384FF"/>
                </a:solidFill>
                <a:latin typeface="Georgia"/>
              </a:rPr>
              <a:t>10%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65960" y="5157216"/>
            <a:ext cx="4133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BF7EF"/>
                </a:solidFill>
                <a:latin typeface="Segoe UI"/>
              </a:rPr>
              <a:t>Trust &amp; compliance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965960" y="5358384"/>
            <a:ext cx="4133088" cy="91440"/>
          </a:xfrm>
          <a:prstGeom prst="roundRect">
            <a:avLst>
              <a:gd name="adj" fmla="val 50000"/>
            </a:avLst>
          </a:prstGeom>
          <a:solidFill>
            <a:srgbClr val="1C27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965960" y="5358384"/>
            <a:ext cx="1033272" cy="91440"/>
          </a:xfrm>
          <a:prstGeom prst="roundRect">
            <a:avLst>
              <a:gd name="adj" fmla="val 50000"/>
            </a:avLst>
          </a:prstGeom>
          <a:solidFill>
            <a:srgbClr val="93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65960" y="5468112"/>
            <a:ext cx="4133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93A3"/>
                </a:solidFill>
                <a:latin typeface="Segoe UI"/>
              </a:rPr>
              <a:t>Legal · DPDP-ready · SOC 2 path · on-call moderation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" y="555955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6EA8FF"/>
                </a:solidFill>
                <a:latin typeface="Georgia"/>
              </a:rPr>
              <a:t>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65960" y="5541264"/>
            <a:ext cx="4133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BF7EF"/>
                </a:solidFill>
                <a:latin typeface="Segoe UI"/>
              </a:rPr>
              <a:t>Reserve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965960" y="5742432"/>
            <a:ext cx="4133088" cy="91440"/>
          </a:xfrm>
          <a:prstGeom prst="roundRect">
            <a:avLst>
              <a:gd name="adj" fmla="val 50000"/>
            </a:avLst>
          </a:prstGeom>
          <a:solidFill>
            <a:srgbClr val="1C27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965960" y="5742432"/>
            <a:ext cx="516636" cy="91440"/>
          </a:xfrm>
          <a:prstGeom prst="roundRect">
            <a:avLst>
              <a:gd name="adj" fmla="val 50000"/>
            </a:avLst>
          </a:prstGeom>
          <a:solidFill>
            <a:srgbClr val="6E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65960" y="5852160"/>
            <a:ext cx="4133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93A3"/>
                </a:solidFill>
                <a:latin typeface="Segoe UI"/>
              </a:rPr>
              <a:t>Buffer for hiring &amp; opportunistic spend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11112" y="3310128"/>
            <a:ext cx="4894783" cy="2834640"/>
          </a:xfrm>
          <a:prstGeom prst="roundRect">
            <a:avLst>
              <a:gd name="adj" fmla="val 6000"/>
            </a:avLst>
          </a:prstGeom>
          <a:solidFill>
            <a:srgbClr val="101725">
              <a:alpha val="85000"/>
            </a:srgbClr>
          </a:solidFill>
          <a:ln w="9525">
            <a:solidFill>
              <a:srgbClr val="33405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6665976" y="3328416"/>
            <a:ext cx="4785055" cy="0"/>
          </a:xfrm>
          <a:prstGeom prst="line">
            <a:avLst/>
          </a:prstGeom>
          <a:ln w="7620"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940296" y="360273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40">
                <a:solidFill>
                  <a:srgbClr val="FF6F8E"/>
                </a:solidFill>
                <a:latin typeface="Segoe UI"/>
              </a:rPr>
              <a:t>MILESTONES · 18 MONTHS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940296" y="408736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43E2D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0296" y="408736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3E2D0"/>
                </a:solidFill>
                <a:latin typeface="Consolas"/>
              </a:rPr>
              <a:t>Q1 '26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28432" y="4069080"/>
            <a:ext cx="32031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BF7EF"/>
                </a:solidFill>
                <a:latin typeface="Segoe UI"/>
              </a:rPr>
              <a:t>India web launch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28432" y="4270248"/>
            <a:ext cx="32031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893A3"/>
                </a:solidFill>
                <a:latin typeface="Segoe UI"/>
              </a:rPr>
              <a:t>25k seed users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940296" y="454456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C56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0296" y="454456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C56E"/>
                </a:solidFill>
                <a:latin typeface="Consolas"/>
              </a:rPr>
              <a:t>Q3 '26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28432" y="4526280"/>
            <a:ext cx="32031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BF7EF"/>
                </a:solidFill>
                <a:latin typeface="Segoe UI"/>
              </a:rPr>
              <a:t>Mobile launch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28432" y="4727448"/>
            <a:ext cx="32031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893A3"/>
                </a:solidFill>
                <a:latin typeface="Segoe UI"/>
              </a:rPr>
              <a:t>Paying tier live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940296" y="500176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6F8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40296" y="500176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6F8E"/>
                </a:solidFill>
                <a:latin typeface="Consolas"/>
              </a:rPr>
              <a:t>Q1 '27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28432" y="4983480"/>
            <a:ext cx="32031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BF7EF"/>
                </a:solidFill>
                <a:latin typeface="Segoe UI"/>
              </a:rPr>
              <a:t>250k MAU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28432" y="5184648"/>
            <a:ext cx="32031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893A3"/>
                </a:solidFill>
                <a:latin typeface="Segoe UI"/>
              </a:rPr>
              <a:t>6%+ paying · Series A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940296" y="545896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938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0296" y="545896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9384FF"/>
                </a:solidFill>
                <a:latin typeface="Consolas"/>
              </a:rPr>
              <a:t>Q3 '27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28432" y="5440680"/>
            <a:ext cx="32031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BF7EF"/>
                </a:solidFill>
                <a:latin typeface="Segoe UI"/>
              </a:rPr>
              <a:t>SEA / MENA pilot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28432" y="5641848"/>
            <a:ext cx="32031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893A3"/>
                </a:solidFill>
                <a:latin typeface="Segoe UI"/>
              </a:rPr>
              <a:t>First international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6199632"/>
            <a:ext cx="108200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240">
                <a:solidFill>
                  <a:srgbClr val="FFC56E"/>
                </a:solidFill>
                <a:latin typeface="Segoe UI"/>
              </a:rPr>
              <a:t>WHEN IDENTITY IS SENSITIVE  —  TRUST BECOMES THE PRODUCT.</a:t>
            </a:r>
          </a:p>
        </p:txBody>
      </p:sp>
      <p:sp>
        <p:nvSpPr>
          <p:cNvPr id="89" name="Oval 88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C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85800" y="6446520"/>
            <a:ext cx="311810" cy="311810"/>
          </a:xfrm>
          <a:prstGeom prst="ellipse">
            <a:avLst/>
          </a:prstGeom>
          <a:solidFill>
            <a:srgbClr val="FF6F8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5800" y="6446520"/>
            <a:ext cx="311810" cy="3118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61008"/>
                </a:solidFill>
                <a:latin typeface="Georgia"/>
              </a:rPr>
              <a:t>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43914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BF7EF"/>
                </a:solidFill>
                <a:latin typeface="Segoe UI"/>
              </a:rPr>
              <a:t>Elyra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43914" y="66842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" b="1" i="0" spc="80">
                <a:solidFill>
                  <a:srgbClr val="8893A3"/>
                </a:solidFill>
                <a:latin typeface="Segoe UI"/>
              </a:rPr>
              <a:t>Investor deck · 2026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85800" y="6437376"/>
            <a:ext cx="10820095" cy="0"/>
          </a:xfrm>
          <a:prstGeom prst="line">
            <a:avLst/>
          </a:prstGeom>
          <a:ln w="6350">
            <a:solidFill>
              <a:srgbClr val="FFFF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0225735" y="6519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8893A3"/>
                </a:solidFill>
                <a:latin typeface="Consola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